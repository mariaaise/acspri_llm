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  <p:sldMasterId id="2147483670" r:id="rId2"/>
  </p:sldMasterIdLst>
  <p:notesMasterIdLst>
    <p:notesMasterId r:id="rId23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9144000" cy="5143500" type="screen16x9"/>
  <p:notesSz cx="51435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00" y="6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E65A89B-66FB-4301-B1BE-66F23E6F5E99}" type="doc">
      <dgm:prSet loTypeId="urn:microsoft.com/office/officeart/2018/2/layout/IconLabelDescription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03756924-7C91-4D20-BBAB-90467548C9C7}">
      <dgm:prSet custT="1"/>
      <dgm:spPr/>
      <dgm:t>
        <a:bodyPr/>
        <a:lstStyle/>
        <a:p>
          <a:pPr>
            <a:defRPr b="1"/>
          </a:pPr>
          <a:r>
            <a:rPr lang="en-AU" sz="2400" b="1" dirty="0">
              <a:solidFill>
                <a:schemeClr val="bg1"/>
              </a:solidFill>
            </a:rPr>
            <a:t>Simple splitting</a:t>
          </a:r>
          <a:r>
            <a:rPr lang="en-AU" sz="2400" dirty="0">
              <a:solidFill>
                <a:schemeClr val="bg1"/>
              </a:solidFill>
            </a:rPr>
            <a:t> </a:t>
          </a:r>
          <a:endParaRPr lang="en-US" sz="2400" dirty="0">
            <a:solidFill>
              <a:schemeClr val="bg1"/>
            </a:solidFill>
          </a:endParaRPr>
        </a:p>
      </dgm:t>
    </dgm:pt>
    <dgm:pt modelId="{A6F1C307-5277-4DB3-B056-E77EB817AA82}" type="parTrans" cxnId="{E023A366-E83D-4F39-94DB-0D5F5B7245F8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B82936D6-DB27-45CE-9573-80D4654FEA72}" type="sibTrans" cxnId="{E023A366-E83D-4F39-94DB-0D5F5B7245F8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1F812155-E7AB-4614-BB36-1DD38E7BEF01}">
      <dgm:prSet custT="1"/>
      <dgm:spPr/>
      <dgm:t>
        <a:bodyPr/>
        <a:lstStyle/>
        <a:p>
          <a:r>
            <a:rPr lang="en-AU" sz="1800" dirty="0" err="1">
              <a:solidFill>
                <a:schemeClr val="bg1"/>
              </a:solidFill>
            </a:rPr>
            <a:t>dgfgdg</a:t>
          </a:r>
          <a:endParaRPr lang="en-US" sz="1800" dirty="0">
            <a:solidFill>
              <a:schemeClr val="bg1"/>
            </a:solidFill>
          </a:endParaRPr>
        </a:p>
      </dgm:t>
    </dgm:pt>
    <dgm:pt modelId="{C3DE7B6C-F55B-4276-B14F-3AEA38C749C8}" type="parTrans" cxnId="{9829758A-3F80-487B-9CA8-867C10AFCA60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A47F2D0E-10DA-4785-9408-A896D5C7F2D7}" type="sibTrans" cxnId="{9829758A-3F80-487B-9CA8-867C10AFCA60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C32591D1-785F-4367-944F-24E4790CF8CA}">
      <dgm:prSet custT="1"/>
      <dgm:spPr/>
      <dgm:t>
        <a:bodyPr/>
        <a:lstStyle/>
        <a:p>
          <a:pPr>
            <a:defRPr b="1"/>
          </a:pPr>
          <a:r>
            <a:rPr lang="en-AU" sz="2400" b="1" dirty="0">
              <a:solidFill>
                <a:schemeClr val="bg1"/>
              </a:solidFill>
            </a:rPr>
            <a:t>Structure-based splitting</a:t>
          </a:r>
          <a:r>
            <a:rPr lang="en-AU" sz="2400" dirty="0">
              <a:solidFill>
                <a:schemeClr val="bg1"/>
              </a:solidFill>
            </a:rPr>
            <a:t> </a:t>
          </a:r>
          <a:endParaRPr lang="en-US" sz="2400" dirty="0">
            <a:solidFill>
              <a:schemeClr val="bg1"/>
            </a:solidFill>
          </a:endParaRPr>
        </a:p>
      </dgm:t>
    </dgm:pt>
    <dgm:pt modelId="{8976EBA2-A15B-466E-9311-DB26A786F1D3}" type="parTrans" cxnId="{10A1ED11-F35E-4E1C-BE82-FA1EA8C0BD62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6CDA5FED-659D-4C2E-90D5-466CA0FB01B7}" type="sibTrans" cxnId="{10A1ED11-F35E-4E1C-BE82-FA1EA8C0BD62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1ED570FE-788A-4220-B915-E27EF2DBDEAF}">
      <dgm:prSet custT="1"/>
      <dgm:spPr/>
      <dgm:t>
        <a:bodyPr/>
        <a:lstStyle/>
        <a:p>
          <a:r>
            <a:rPr lang="en-AU" sz="1800" dirty="0" err="1">
              <a:solidFill>
                <a:schemeClr val="bg1"/>
              </a:solidFill>
            </a:rPr>
            <a:t>dfgdgdgd</a:t>
          </a:r>
          <a:endParaRPr lang="en-US" sz="1800" dirty="0">
            <a:solidFill>
              <a:schemeClr val="bg1"/>
            </a:solidFill>
          </a:endParaRPr>
        </a:p>
      </dgm:t>
    </dgm:pt>
    <dgm:pt modelId="{8A5B3174-23B1-4C5B-97DD-E3E924BFC263}" type="parTrans" cxnId="{50E23036-623F-4F79-97EE-5AC8B882D517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98D0E6D0-130B-459E-B009-97DD9A17CE5D}" type="sibTrans" cxnId="{50E23036-623F-4F79-97EE-5AC8B882D517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571B2F64-564E-4BDD-982D-38B9C0B31FEA}">
      <dgm:prSet custT="1"/>
      <dgm:spPr/>
      <dgm:t>
        <a:bodyPr/>
        <a:lstStyle/>
        <a:p>
          <a:pPr>
            <a:defRPr b="1"/>
          </a:pPr>
          <a:r>
            <a:rPr lang="en-AU" sz="2400" b="1" dirty="0">
              <a:solidFill>
                <a:schemeClr val="bg1"/>
              </a:solidFill>
            </a:rPr>
            <a:t>Meaning-based splitting</a:t>
          </a:r>
          <a:r>
            <a:rPr lang="en-AU" sz="2400" dirty="0">
              <a:solidFill>
                <a:schemeClr val="bg1"/>
              </a:solidFill>
            </a:rPr>
            <a:t> (semantic chunking) </a:t>
          </a:r>
          <a:endParaRPr lang="en-US" sz="2400" dirty="0">
            <a:solidFill>
              <a:schemeClr val="bg1"/>
            </a:solidFill>
          </a:endParaRPr>
        </a:p>
      </dgm:t>
    </dgm:pt>
    <dgm:pt modelId="{F8203370-1C03-4AAD-89F8-FFE05A0BD6CA}" type="parTrans" cxnId="{C19FAB38-6E53-4C32-97D2-A4E7F15F0BA5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69872D99-27B7-46FF-BF11-079E182BE2B5}" type="sibTrans" cxnId="{C19FAB38-6E53-4C32-97D2-A4E7F15F0BA5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3927EE00-72CB-4C5F-A9D3-4C3613FB8893}">
      <dgm:prSet custT="1"/>
      <dgm:spPr/>
      <dgm:t>
        <a:bodyPr/>
        <a:lstStyle/>
        <a:p>
          <a:r>
            <a:rPr lang="en-AU" sz="1800" dirty="0" err="1">
              <a:solidFill>
                <a:schemeClr val="bg1"/>
              </a:solidFill>
            </a:rPr>
            <a:t>dgfdgdg</a:t>
          </a:r>
          <a:endParaRPr lang="en-US" sz="1800" dirty="0">
            <a:solidFill>
              <a:schemeClr val="bg1"/>
            </a:solidFill>
          </a:endParaRPr>
        </a:p>
      </dgm:t>
    </dgm:pt>
    <dgm:pt modelId="{AA59E221-BEFF-4FE2-8DF8-EF5307188CE9}" type="parTrans" cxnId="{6804FBF4-682A-4511-BD30-F690AF6A6030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AA32E097-056A-4B96-9F3E-E65CDFB326E4}" type="sibTrans" cxnId="{6804FBF4-682A-4511-BD30-F690AF6A6030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E35000CF-BCE9-4882-84AD-CC19FB3D749C}" type="pres">
      <dgm:prSet presAssocID="{FE65A89B-66FB-4301-B1BE-66F23E6F5E99}" presName="root" presStyleCnt="0">
        <dgm:presLayoutVars>
          <dgm:dir/>
          <dgm:resizeHandles val="exact"/>
        </dgm:presLayoutVars>
      </dgm:prSet>
      <dgm:spPr/>
    </dgm:pt>
    <dgm:pt modelId="{88643B00-FA25-4E51-BCCD-81EEC92A1E92}" type="pres">
      <dgm:prSet presAssocID="{03756924-7C91-4D20-BBAB-90467548C9C7}" presName="compNode" presStyleCnt="0"/>
      <dgm:spPr/>
    </dgm:pt>
    <dgm:pt modelId="{FBFE4E4D-9D7E-47BF-AE85-B8078D66B6F8}" type="pres">
      <dgm:prSet presAssocID="{03756924-7C91-4D20-BBAB-90467548C9C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code with solid fill"/>
        </a:ext>
      </dgm:extLst>
    </dgm:pt>
    <dgm:pt modelId="{6E5BBF1C-EC23-4728-9FF5-70948A96E4B9}" type="pres">
      <dgm:prSet presAssocID="{03756924-7C91-4D20-BBAB-90467548C9C7}" presName="iconSpace" presStyleCnt="0"/>
      <dgm:spPr/>
    </dgm:pt>
    <dgm:pt modelId="{A518C307-6CCA-47F1-A89B-04ACD7ED5008}" type="pres">
      <dgm:prSet presAssocID="{03756924-7C91-4D20-BBAB-90467548C9C7}" presName="parTx" presStyleLbl="revTx" presStyleIdx="0" presStyleCnt="6">
        <dgm:presLayoutVars>
          <dgm:chMax val="0"/>
          <dgm:chPref val="0"/>
        </dgm:presLayoutVars>
      </dgm:prSet>
      <dgm:spPr/>
    </dgm:pt>
    <dgm:pt modelId="{29402689-3754-49AA-B75E-78533955EC8E}" type="pres">
      <dgm:prSet presAssocID="{03756924-7C91-4D20-BBAB-90467548C9C7}" presName="txSpace" presStyleCnt="0"/>
      <dgm:spPr/>
    </dgm:pt>
    <dgm:pt modelId="{E1BACBB5-0D00-4570-A3E4-94D012B3410E}" type="pres">
      <dgm:prSet presAssocID="{03756924-7C91-4D20-BBAB-90467548C9C7}" presName="desTx" presStyleLbl="revTx" presStyleIdx="1" presStyleCnt="6">
        <dgm:presLayoutVars/>
      </dgm:prSet>
      <dgm:spPr/>
    </dgm:pt>
    <dgm:pt modelId="{661755A7-3A00-420B-9487-0EDA04D5A055}" type="pres">
      <dgm:prSet presAssocID="{B82936D6-DB27-45CE-9573-80D4654FEA72}" presName="sibTrans" presStyleCnt="0"/>
      <dgm:spPr/>
    </dgm:pt>
    <dgm:pt modelId="{3AE3E9A4-52FF-4CDB-8436-C20077002983}" type="pres">
      <dgm:prSet presAssocID="{C32591D1-785F-4367-944F-24E4790CF8CA}" presName="compNode" presStyleCnt="0"/>
      <dgm:spPr/>
    </dgm:pt>
    <dgm:pt modelId="{A1405FC9-24FF-4A6F-A99E-85421B289F00}" type="pres">
      <dgm:prSet presAssocID="{C32591D1-785F-4367-944F-24E4790CF8CA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BB9A82A9-DFBC-4533-8CE9-562272F199D9}" type="pres">
      <dgm:prSet presAssocID="{C32591D1-785F-4367-944F-24E4790CF8CA}" presName="iconSpace" presStyleCnt="0"/>
      <dgm:spPr/>
    </dgm:pt>
    <dgm:pt modelId="{AB50A4B7-FB04-40AF-A0D2-1A8DB58FB61F}" type="pres">
      <dgm:prSet presAssocID="{C32591D1-785F-4367-944F-24E4790CF8CA}" presName="parTx" presStyleLbl="revTx" presStyleIdx="2" presStyleCnt="6">
        <dgm:presLayoutVars>
          <dgm:chMax val="0"/>
          <dgm:chPref val="0"/>
        </dgm:presLayoutVars>
      </dgm:prSet>
      <dgm:spPr/>
    </dgm:pt>
    <dgm:pt modelId="{87605DCA-A057-4B8D-91A9-C11CDB5A41C2}" type="pres">
      <dgm:prSet presAssocID="{C32591D1-785F-4367-944F-24E4790CF8CA}" presName="txSpace" presStyleCnt="0"/>
      <dgm:spPr/>
    </dgm:pt>
    <dgm:pt modelId="{ABD42D1F-1E4D-4681-ABF4-B6185C5BFD28}" type="pres">
      <dgm:prSet presAssocID="{C32591D1-785F-4367-944F-24E4790CF8CA}" presName="desTx" presStyleLbl="revTx" presStyleIdx="3" presStyleCnt="6">
        <dgm:presLayoutVars/>
      </dgm:prSet>
      <dgm:spPr/>
    </dgm:pt>
    <dgm:pt modelId="{4A34E5B0-3BEE-4361-8B13-D01D72199E6A}" type="pres">
      <dgm:prSet presAssocID="{6CDA5FED-659D-4C2E-90D5-466CA0FB01B7}" presName="sibTrans" presStyleCnt="0"/>
      <dgm:spPr/>
    </dgm:pt>
    <dgm:pt modelId="{545A8994-9480-4E2E-BF74-294B60FFF9E7}" type="pres">
      <dgm:prSet presAssocID="{571B2F64-564E-4BDD-982D-38B9C0B31FEA}" presName="compNode" presStyleCnt="0"/>
      <dgm:spPr/>
    </dgm:pt>
    <dgm:pt modelId="{1B1371E3-DF55-4D58-A2C8-2603A523C7C1}" type="pres">
      <dgm:prSet presAssocID="{571B2F64-564E-4BDD-982D-38B9C0B31FEA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ansfer"/>
        </a:ext>
      </dgm:extLst>
    </dgm:pt>
    <dgm:pt modelId="{F8D5EF54-188A-428C-95AD-9CFAD032A078}" type="pres">
      <dgm:prSet presAssocID="{571B2F64-564E-4BDD-982D-38B9C0B31FEA}" presName="iconSpace" presStyleCnt="0"/>
      <dgm:spPr/>
    </dgm:pt>
    <dgm:pt modelId="{454CC70F-F1B2-49DF-8AF3-94F0D744EEE7}" type="pres">
      <dgm:prSet presAssocID="{571B2F64-564E-4BDD-982D-38B9C0B31FEA}" presName="parTx" presStyleLbl="revTx" presStyleIdx="4" presStyleCnt="6">
        <dgm:presLayoutVars>
          <dgm:chMax val="0"/>
          <dgm:chPref val="0"/>
        </dgm:presLayoutVars>
      </dgm:prSet>
      <dgm:spPr/>
    </dgm:pt>
    <dgm:pt modelId="{51B4F4D1-1D4B-4134-80C4-A01D4ACD2E78}" type="pres">
      <dgm:prSet presAssocID="{571B2F64-564E-4BDD-982D-38B9C0B31FEA}" presName="txSpace" presStyleCnt="0"/>
      <dgm:spPr/>
    </dgm:pt>
    <dgm:pt modelId="{EB253DDD-F10F-4FAE-969D-FC62DFFB099E}" type="pres">
      <dgm:prSet presAssocID="{571B2F64-564E-4BDD-982D-38B9C0B31FEA}" presName="desTx" presStyleLbl="revTx" presStyleIdx="5" presStyleCnt="6">
        <dgm:presLayoutVars/>
      </dgm:prSet>
      <dgm:spPr/>
    </dgm:pt>
  </dgm:ptLst>
  <dgm:cxnLst>
    <dgm:cxn modelId="{10A1ED11-F35E-4E1C-BE82-FA1EA8C0BD62}" srcId="{FE65A89B-66FB-4301-B1BE-66F23E6F5E99}" destId="{C32591D1-785F-4367-944F-24E4790CF8CA}" srcOrd="1" destOrd="0" parTransId="{8976EBA2-A15B-466E-9311-DB26A786F1D3}" sibTransId="{6CDA5FED-659D-4C2E-90D5-466CA0FB01B7}"/>
    <dgm:cxn modelId="{E599E61D-E7B7-410E-9561-A9A0C5935E9E}" type="presOf" srcId="{1F812155-E7AB-4614-BB36-1DD38E7BEF01}" destId="{E1BACBB5-0D00-4570-A3E4-94D012B3410E}" srcOrd="0" destOrd="0" presId="urn:microsoft.com/office/officeart/2018/2/layout/IconLabelDescriptionList"/>
    <dgm:cxn modelId="{BF2DC033-139B-442E-A457-7D2099CDDF82}" type="presOf" srcId="{3927EE00-72CB-4C5F-A9D3-4C3613FB8893}" destId="{EB253DDD-F10F-4FAE-969D-FC62DFFB099E}" srcOrd="0" destOrd="0" presId="urn:microsoft.com/office/officeart/2018/2/layout/IconLabelDescriptionList"/>
    <dgm:cxn modelId="{50E23036-623F-4F79-97EE-5AC8B882D517}" srcId="{C32591D1-785F-4367-944F-24E4790CF8CA}" destId="{1ED570FE-788A-4220-B915-E27EF2DBDEAF}" srcOrd="0" destOrd="0" parTransId="{8A5B3174-23B1-4C5B-97DD-E3E924BFC263}" sibTransId="{98D0E6D0-130B-459E-B009-97DD9A17CE5D}"/>
    <dgm:cxn modelId="{C19FAB38-6E53-4C32-97D2-A4E7F15F0BA5}" srcId="{FE65A89B-66FB-4301-B1BE-66F23E6F5E99}" destId="{571B2F64-564E-4BDD-982D-38B9C0B31FEA}" srcOrd="2" destOrd="0" parTransId="{F8203370-1C03-4AAD-89F8-FFE05A0BD6CA}" sibTransId="{69872D99-27B7-46FF-BF11-079E182BE2B5}"/>
    <dgm:cxn modelId="{09F4524B-143A-402E-806E-A50A43BF105E}" type="presOf" srcId="{1ED570FE-788A-4220-B915-E27EF2DBDEAF}" destId="{ABD42D1F-1E4D-4681-ABF4-B6185C5BFD28}" srcOrd="0" destOrd="0" presId="urn:microsoft.com/office/officeart/2018/2/layout/IconLabelDescriptionList"/>
    <dgm:cxn modelId="{E023A366-E83D-4F39-94DB-0D5F5B7245F8}" srcId="{FE65A89B-66FB-4301-B1BE-66F23E6F5E99}" destId="{03756924-7C91-4D20-BBAB-90467548C9C7}" srcOrd="0" destOrd="0" parTransId="{A6F1C307-5277-4DB3-B056-E77EB817AA82}" sibTransId="{B82936D6-DB27-45CE-9573-80D4654FEA72}"/>
    <dgm:cxn modelId="{91A90576-85B3-47C9-9F61-F65DFE22BB4D}" type="presOf" srcId="{571B2F64-564E-4BDD-982D-38B9C0B31FEA}" destId="{454CC70F-F1B2-49DF-8AF3-94F0D744EEE7}" srcOrd="0" destOrd="0" presId="urn:microsoft.com/office/officeart/2018/2/layout/IconLabelDescriptionList"/>
    <dgm:cxn modelId="{9829758A-3F80-487B-9CA8-867C10AFCA60}" srcId="{03756924-7C91-4D20-BBAB-90467548C9C7}" destId="{1F812155-E7AB-4614-BB36-1DD38E7BEF01}" srcOrd="0" destOrd="0" parTransId="{C3DE7B6C-F55B-4276-B14F-3AEA38C749C8}" sibTransId="{A47F2D0E-10DA-4785-9408-A896D5C7F2D7}"/>
    <dgm:cxn modelId="{8D613F93-6660-4D3F-985C-411DD5590832}" type="presOf" srcId="{C32591D1-785F-4367-944F-24E4790CF8CA}" destId="{AB50A4B7-FB04-40AF-A0D2-1A8DB58FB61F}" srcOrd="0" destOrd="0" presId="urn:microsoft.com/office/officeart/2018/2/layout/IconLabelDescriptionList"/>
    <dgm:cxn modelId="{8DDE05DF-DA23-4F7E-83C7-F9A152AD8596}" type="presOf" srcId="{FE65A89B-66FB-4301-B1BE-66F23E6F5E99}" destId="{E35000CF-BCE9-4882-84AD-CC19FB3D749C}" srcOrd="0" destOrd="0" presId="urn:microsoft.com/office/officeart/2018/2/layout/IconLabelDescriptionList"/>
    <dgm:cxn modelId="{90685DED-D145-4256-BEB4-644AE366D6F7}" type="presOf" srcId="{03756924-7C91-4D20-BBAB-90467548C9C7}" destId="{A518C307-6CCA-47F1-A89B-04ACD7ED5008}" srcOrd="0" destOrd="0" presId="urn:microsoft.com/office/officeart/2018/2/layout/IconLabelDescriptionList"/>
    <dgm:cxn modelId="{6804FBF4-682A-4511-BD30-F690AF6A6030}" srcId="{571B2F64-564E-4BDD-982D-38B9C0B31FEA}" destId="{3927EE00-72CB-4C5F-A9D3-4C3613FB8893}" srcOrd="0" destOrd="0" parTransId="{AA59E221-BEFF-4FE2-8DF8-EF5307188CE9}" sibTransId="{AA32E097-056A-4B96-9F3E-E65CDFB326E4}"/>
    <dgm:cxn modelId="{ED3748DF-FE1E-4E98-828A-EAD5EC2A9DA8}" type="presParOf" srcId="{E35000CF-BCE9-4882-84AD-CC19FB3D749C}" destId="{88643B00-FA25-4E51-BCCD-81EEC92A1E92}" srcOrd="0" destOrd="0" presId="urn:microsoft.com/office/officeart/2018/2/layout/IconLabelDescriptionList"/>
    <dgm:cxn modelId="{245FD3A4-8237-4363-AEC4-5FF7FC6AEC6D}" type="presParOf" srcId="{88643B00-FA25-4E51-BCCD-81EEC92A1E92}" destId="{FBFE4E4D-9D7E-47BF-AE85-B8078D66B6F8}" srcOrd="0" destOrd="0" presId="urn:microsoft.com/office/officeart/2018/2/layout/IconLabelDescriptionList"/>
    <dgm:cxn modelId="{05CF9128-A113-4142-B895-A054FA4A3396}" type="presParOf" srcId="{88643B00-FA25-4E51-BCCD-81EEC92A1E92}" destId="{6E5BBF1C-EC23-4728-9FF5-70948A96E4B9}" srcOrd="1" destOrd="0" presId="urn:microsoft.com/office/officeart/2018/2/layout/IconLabelDescriptionList"/>
    <dgm:cxn modelId="{FB3860BD-136D-402F-B87D-45F217053176}" type="presParOf" srcId="{88643B00-FA25-4E51-BCCD-81EEC92A1E92}" destId="{A518C307-6CCA-47F1-A89B-04ACD7ED5008}" srcOrd="2" destOrd="0" presId="urn:microsoft.com/office/officeart/2018/2/layout/IconLabelDescriptionList"/>
    <dgm:cxn modelId="{6E4DCE71-D5DF-41C5-B570-FDCB987B1EBD}" type="presParOf" srcId="{88643B00-FA25-4E51-BCCD-81EEC92A1E92}" destId="{29402689-3754-49AA-B75E-78533955EC8E}" srcOrd="3" destOrd="0" presId="urn:microsoft.com/office/officeart/2018/2/layout/IconLabelDescriptionList"/>
    <dgm:cxn modelId="{2968499B-FB73-4F66-9B35-63CC07D8B0F5}" type="presParOf" srcId="{88643B00-FA25-4E51-BCCD-81EEC92A1E92}" destId="{E1BACBB5-0D00-4570-A3E4-94D012B3410E}" srcOrd="4" destOrd="0" presId="urn:microsoft.com/office/officeart/2018/2/layout/IconLabelDescriptionList"/>
    <dgm:cxn modelId="{FD9634CA-1C27-435D-9D25-36D48A5BBD80}" type="presParOf" srcId="{E35000CF-BCE9-4882-84AD-CC19FB3D749C}" destId="{661755A7-3A00-420B-9487-0EDA04D5A055}" srcOrd="1" destOrd="0" presId="urn:microsoft.com/office/officeart/2018/2/layout/IconLabelDescriptionList"/>
    <dgm:cxn modelId="{07F13335-6D73-479A-8C03-25F1830D1429}" type="presParOf" srcId="{E35000CF-BCE9-4882-84AD-CC19FB3D749C}" destId="{3AE3E9A4-52FF-4CDB-8436-C20077002983}" srcOrd="2" destOrd="0" presId="urn:microsoft.com/office/officeart/2018/2/layout/IconLabelDescriptionList"/>
    <dgm:cxn modelId="{B5873D1A-254A-43DC-884F-BD061BDB7A99}" type="presParOf" srcId="{3AE3E9A4-52FF-4CDB-8436-C20077002983}" destId="{A1405FC9-24FF-4A6F-A99E-85421B289F00}" srcOrd="0" destOrd="0" presId="urn:microsoft.com/office/officeart/2018/2/layout/IconLabelDescriptionList"/>
    <dgm:cxn modelId="{0931EDF1-62E7-495A-9C0A-B4886B002DDF}" type="presParOf" srcId="{3AE3E9A4-52FF-4CDB-8436-C20077002983}" destId="{BB9A82A9-DFBC-4533-8CE9-562272F199D9}" srcOrd="1" destOrd="0" presId="urn:microsoft.com/office/officeart/2018/2/layout/IconLabelDescriptionList"/>
    <dgm:cxn modelId="{18041C64-0E3E-4B69-8107-BFA48D8A5FE2}" type="presParOf" srcId="{3AE3E9A4-52FF-4CDB-8436-C20077002983}" destId="{AB50A4B7-FB04-40AF-A0D2-1A8DB58FB61F}" srcOrd="2" destOrd="0" presId="urn:microsoft.com/office/officeart/2018/2/layout/IconLabelDescriptionList"/>
    <dgm:cxn modelId="{1EC9DAB2-0560-4040-AF5D-4F21A2B9B0A2}" type="presParOf" srcId="{3AE3E9A4-52FF-4CDB-8436-C20077002983}" destId="{87605DCA-A057-4B8D-91A9-C11CDB5A41C2}" srcOrd="3" destOrd="0" presId="urn:microsoft.com/office/officeart/2018/2/layout/IconLabelDescriptionList"/>
    <dgm:cxn modelId="{D7BE4318-2324-4C91-A792-08CB19544794}" type="presParOf" srcId="{3AE3E9A4-52FF-4CDB-8436-C20077002983}" destId="{ABD42D1F-1E4D-4681-ABF4-B6185C5BFD28}" srcOrd="4" destOrd="0" presId="urn:microsoft.com/office/officeart/2018/2/layout/IconLabelDescriptionList"/>
    <dgm:cxn modelId="{928CD735-25B2-4D42-A7A4-A4B837DB47C6}" type="presParOf" srcId="{E35000CF-BCE9-4882-84AD-CC19FB3D749C}" destId="{4A34E5B0-3BEE-4361-8B13-D01D72199E6A}" srcOrd="3" destOrd="0" presId="urn:microsoft.com/office/officeart/2018/2/layout/IconLabelDescriptionList"/>
    <dgm:cxn modelId="{48BB4114-5219-44DA-A2A8-CB435080E30B}" type="presParOf" srcId="{E35000CF-BCE9-4882-84AD-CC19FB3D749C}" destId="{545A8994-9480-4E2E-BF74-294B60FFF9E7}" srcOrd="4" destOrd="0" presId="urn:microsoft.com/office/officeart/2018/2/layout/IconLabelDescriptionList"/>
    <dgm:cxn modelId="{97BCD05E-047A-4EE6-9701-3242C999717F}" type="presParOf" srcId="{545A8994-9480-4E2E-BF74-294B60FFF9E7}" destId="{1B1371E3-DF55-4D58-A2C8-2603A523C7C1}" srcOrd="0" destOrd="0" presId="urn:microsoft.com/office/officeart/2018/2/layout/IconLabelDescriptionList"/>
    <dgm:cxn modelId="{2419C416-C50B-472F-BA05-EAF1AC1CE0F8}" type="presParOf" srcId="{545A8994-9480-4E2E-BF74-294B60FFF9E7}" destId="{F8D5EF54-188A-428C-95AD-9CFAD032A078}" srcOrd="1" destOrd="0" presId="urn:microsoft.com/office/officeart/2018/2/layout/IconLabelDescriptionList"/>
    <dgm:cxn modelId="{139D1C74-FC62-4BB6-BEE1-78824C41B3F8}" type="presParOf" srcId="{545A8994-9480-4E2E-BF74-294B60FFF9E7}" destId="{454CC70F-F1B2-49DF-8AF3-94F0D744EEE7}" srcOrd="2" destOrd="0" presId="urn:microsoft.com/office/officeart/2018/2/layout/IconLabelDescriptionList"/>
    <dgm:cxn modelId="{89667B93-1FFE-4A84-91E3-3D9F2CD79446}" type="presParOf" srcId="{545A8994-9480-4E2E-BF74-294B60FFF9E7}" destId="{51B4F4D1-1D4B-4134-80C4-A01D4ACD2E78}" srcOrd="3" destOrd="0" presId="urn:microsoft.com/office/officeart/2018/2/layout/IconLabelDescriptionList"/>
    <dgm:cxn modelId="{FCC86F4C-AF05-42F6-8D5D-6878ABEF409B}" type="presParOf" srcId="{545A8994-9480-4E2E-BF74-294B60FFF9E7}" destId="{EB253DDD-F10F-4FAE-969D-FC62DFFB099E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E65A89B-66FB-4301-B1BE-66F23E6F5E99}" type="doc">
      <dgm:prSet loTypeId="urn:microsoft.com/office/officeart/2018/2/layout/IconLabelDescription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03756924-7C91-4D20-BBAB-90467548C9C7}">
      <dgm:prSet custT="1"/>
      <dgm:spPr/>
      <dgm:t>
        <a:bodyPr/>
        <a:lstStyle/>
        <a:p>
          <a:pPr>
            <a:defRPr b="1"/>
          </a:pPr>
          <a:r>
            <a:rPr lang="en-AU" sz="2400" b="1" dirty="0">
              <a:solidFill>
                <a:schemeClr val="bg1"/>
              </a:solidFill>
            </a:rPr>
            <a:t>Simple splitting</a:t>
          </a:r>
          <a:r>
            <a:rPr lang="en-AU" sz="2400" dirty="0">
              <a:solidFill>
                <a:schemeClr val="bg1"/>
              </a:solidFill>
            </a:rPr>
            <a:t> </a:t>
          </a:r>
          <a:endParaRPr lang="en-US" sz="2400" dirty="0">
            <a:solidFill>
              <a:schemeClr val="bg1"/>
            </a:solidFill>
          </a:endParaRPr>
        </a:p>
      </dgm:t>
    </dgm:pt>
    <dgm:pt modelId="{A6F1C307-5277-4DB3-B056-E77EB817AA82}" type="parTrans" cxnId="{E023A366-E83D-4F39-94DB-0D5F5B7245F8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B82936D6-DB27-45CE-9573-80D4654FEA72}" type="sibTrans" cxnId="{E023A366-E83D-4F39-94DB-0D5F5B7245F8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1F812155-E7AB-4614-BB36-1DD38E7BEF01}">
      <dgm:prSet custT="1"/>
      <dgm:spPr/>
      <dgm:t>
        <a:bodyPr/>
        <a:lstStyle/>
        <a:p>
          <a:r>
            <a:rPr lang="en-AU" sz="1800" dirty="0" err="1">
              <a:solidFill>
                <a:schemeClr val="bg1"/>
              </a:solidFill>
            </a:rPr>
            <a:t>dgfgdg</a:t>
          </a:r>
          <a:endParaRPr lang="en-US" sz="1800" dirty="0">
            <a:solidFill>
              <a:schemeClr val="bg1"/>
            </a:solidFill>
          </a:endParaRPr>
        </a:p>
      </dgm:t>
    </dgm:pt>
    <dgm:pt modelId="{C3DE7B6C-F55B-4276-B14F-3AEA38C749C8}" type="parTrans" cxnId="{9829758A-3F80-487B-9CA8-867C10AFCA60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A47F2D0E-10DA-4785-9408-A896D5C7F2D7}" type="sibTrans" cxnId="{9829758A-3F80-487B-9CA8-867C10AFCA60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C32591D1-785F-4367-944F-24E4790CF8CA}">
      <dgm:prSet custT="1"/>
      <dgm:spPr/>
      <dgm:t>
        <a:bodyPr/>
        <a:lstStyle/>
        <a:p>
          <a:pPr>
            <a:defRPr b="1"/>
          </a:pPr>
          <a:r>
            <a:rPr lang="en-AU" sz="2400" b="1" dirty="0">
              <a:solidFill>
                <a:schemeClr val="bg1"/>
              </a:solidFill>
            </a:rPr>
            <a:t>Structure-based splitting</a:t>
          </a:r>
          <a:r>
            <a:rPr lang="en-AU" sz="2400" dirty="0">
              <a:solidFill>
                <a:schemeClr val="bg1"/>
              </a:solidFill>
            </a:rPr>
            <a:t> </a:t>
          </a:r>
          <a:endParaRPr lang="en-US" sz="2400" dirty="0">
            <a:solidFill>
              <a:schemeClr val="bg1"/>
            </a:solidFill>
          </a:endParaRPr>
        </a:p>
      </dgm:t>
    </dgm:pt>
    <dgm:pt modelId="{8976EBA2-A15B-466E-9311-DB26A786F1D3}" type="parTrans" cxnId="{10A1ED11-F35E-4E1C-BE82-FA1EA8C0BD62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6CDA5FED-659D-4C2E-90D5-466CA0FB01B7}" type="sibTrans" cxnId="{10A1ED11-F35E-4E1C-BE82-FA1EA8C0BD62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1ED570FE-788A-4220-B915-E27EF2DBDEAF}">
      <dgm:prSet custT="1"/>
      <dgm:spPr/>
      <dgm:t>
        <a:bodyPr/>
        <a:lstStyle/>
        <a:p>
          <a:r>
            <a:rPr lang="en-AU" sz="1800" dirty="0" err="1">
              <a:solidFill>
                <a:schemeClr val="bg1"/>
              </a:solidFill>
            </a:rPr>
            <a:t>dfgdgdgd</a:t>
          </a:r>
          <a:endParaRPr lang="en-US" sz="1800" dirty="0">
            <a:solidFill>
              <a:schemeClr val="bg1"/>
            </a:solidFill>
          </a:endParaRPr>
        </a:p>
      </dgm:t>
    </dgm:pt>
    <dgm:pt modelId="{8A5B3174-23B1-4C5B-97DD-E3E924BFC263}" type="parTrans" cxnId="{50E23036-623F-4F79-97EE-5AC8B882D517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98D0E6D0-130B-459E-B009-97DD9A17CE5D}" type="sibTrans" cxnId="{50E23036-623F-4F79-97EE-5AC8B882D517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571B2F64-564E-4BDD-982D-38B9C0B31FEA}">
      <dgm:prSet custT="1"/>
      <dgm:spPr/>
      <dgm:t>
        <a:bodyPr/>
        <a:lstStyle/>
        <a:p>
          <a:pPr>
            <a:defRPr b="1"/>
          </a:pPr>
          <a:r>
            <a:rPr lang="en-AU" sz="2400" b="1" dirty="0">
              <a:solidFill>
                <a:schemeClr val="bg1"/>
              </a:solidFill>
            </a:rPr>
            <a:t>Meaning-based splitting</a:t>
          </a:r>
          <a:r>
            <a:rPr lang="en-AU" sz="2400" dirty="0">
              <a:solidFill>
                <a:schemeClr val="bg1"/>
              </a:solidFill>
            </a:rPr>
            <a:t> (semantic chunking) </a:t>
          </a:r>
          <a:endParaRPr lang="en-US" sz="2400" dirty="0">
            <a:solidFill>
              <a:schemeClr val="bg1"/>
            </a:solidFill>
          </a:endParaRPr>
        </a:p>
      </dgm:t>
    </dgm:pt>
    <dgm:pt modelId="{F8203370-1C03-4AAD-89F8-FFE05A0BD6CA}" type="parTrans" cxnId="{C19FAB38-6E53-4C32-97D2-A4E7F15F0BA5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69872D99-27B7-46FF-BF11-079E182BE2B5}" type="sibTrans" cxnId="{C19FAB38-6E53-4C32-97D2-A4E7F15F0BA5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3927EE00-72CB-4C5F-A9D3-4C3613FB8893}">
      <dgm:prSet custT="1"/>
      <dgm:spPr/>
      <dgm:t>
        <a:bodyPr/>
        <a:lstStyle/>
        <a:p>
          <a:r>
            <a:rPr lang="en-AU" sz="1800" dirty="0" err="1">
              <a:solidFill>
                <a:schemeClr val="bg1"/>
              </a:solidFill>
            </a:rPr>
            <a:t>dgfdgdg</a:t>
          </a:r>
          <a:endParaRPr lang="en-US" sz="1800" dirty="0">
            <a:solidFill>
              <a:schemeClr val="bg1"/>
            </a:solidFill>
          </a:endParaRPr>
        </a:p>
      </dgm:t>
    </dgm:pt>
    <dgm:pt modelId="{AA59E221-BEFF-4FE2-8DF8-EF5307188CE9}" type="parTrans" cxnId="{6804FBF4-682A-4511-BD30-F690AF6A6030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AA32E097-056A-4B96-9F3E-E65CDFB326E4}" type="sibTrans" cxnId="{6804FBF4-682A-4511-BD30-F690AF6A6030}">
      <dgm:prSet/>
      <dgm:spPr/>
      <dgm:t>
        <a:bodyPr/>
        <a:lstStyle/>
        <a:p>
          <a:endParaRPr lang="en-US">
            <a:solidFill>
              <a:schemeClr val="bg1"/>
            </a:solidFill>
          </a:endParaRPr>
        </a:p>
      </dgm:t>
    </dgm:pt>
    <dgm:pt modelId="{E35000CF-BCE9-4882-84AD-CC19FB3D749C}" type="pres">
      <dgm:prSet presAssocID="{FE65A89B-66FB-4301-B1BE-66F23E6F5E99}" presName="root" presStyleCnt="0">
        <dgm:presLayoutVars>
          <dgm:dir/>
          <dgm:resizeHandles val="exact"/>
        </dgm:presLayoutVars>
      </dgm:prSet>
      <dgm:spPr/>
    </dgm:pt>
    <dgm:pt modelId="{88643B00-FA25-4E51-BCCD-81EEC92A1E92}" type="pres">
      <dgm:prSet presAssocID="{03756924-7C91-4D20-BBAB-90467548C9C7}" presName="compNode" presStyleCnt="0"/>
      <dgm:spPr/>
    </dgm:pt>
    <dgm:pt modelId="{FBFE4E4D-9D7E-47BF-AE85-B8078D66B6F8}" type="pres">
      <dgm:prSet presAssocID="{03756924-7C91-4D20-BBAB-90467548C9C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code with solid fill"/>
        </a:ext>
      </dgm:extLst>
    </dgm:pt>
    <dgm:pt modelId="{6E5BBF1C-EC23-4728-9FF5-70948A96E4B9}" type="pres">
      <dgm:prSet presAssocID="{03756924-7C91-4D20-BBAB-90467548C9C7}" presName="iconSpace" presStyleCnt="0"/>
      <dgm:spPr/>
    </dgm:pt>
    <dgm:pt modelId="{A518C307-6CCA-47F1-A89B-04ACD7ED5008}" type="pres">
      <dgm:prSet presAssocID="{03756924-7C91-4D20-BBAB-90467548C9C7}" presName="parTx" presStyleLbl="revTx" presStyleIdx="0" presStyleCnt="6">
        <dgm:presLayoutVars>
          <dgm:chMax val="0"/>
          <dgm:chPref val="0"/>
        </dgm:presLayoutVars>
      </dgm:prSet>
      <dgm:spPr/>
    </dgm:pt>
    <dgm:pt modelId="{29402689-3754-49AA-B75E-78533955EC8E}" type="pres">
      <dgm:prSet presAssocID="{03756924-7C91-4D20-BBAB-90467548C9C7}" presName="txSpace" presStyleCnt="0"/>
      <dgm:spPr/>
    </dgm:pt>
    <dgm:pt modelId="{E1BACBB5-0D00-4570-A3E4-94D012B3410E}" type="pres">
      <dgm:prSet presAssocID="{03756924-7C91-4D20-BBAB-90467548C9C7}" presName="desTx" presStyleLbl="revTx" presStyleIdx="1" presStyleCnt="6">
        <dgm:presLayoutVars/>
      </dgm:prSet>
      <dgm:spPr/>
    </dgm:pt>
    <dgm:pt modelId="{661755A7-3A00-420B-9487-0EDA04D5A055}" type="pres">
      <dgm:prSet presAssocID="{B82936D6-DB27-45CE-9573-80D4654FEA72}" presName="sibTrans" presStyleCnt="0"/>
      <dgm:spPr/>
    </dgm:pt>
    <dgm:pt modelId="{3AE3E9A4-52FF-4CDB-8436-C20077002983}" type="pres">
      <dgm:prSet presAssocID="{C32591D1-785F-4367-944F-24E4790CF8CA}" presName="compNode" presStyleCnt="0"/>
      <dgm:spPr/>
    </dgm:pt>
    <dgm:pt modelId="{A1405FC9-24FF-4A6F-A99E-85421B289F00}" type="pres">
      <dgm:prSet presAssocID="{C32591D1-785F-4367-944F-24E4790CF8CA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BB9A82A9-DFBC-4533-8CE9-562272F199D9}" type="pres">
      <dgm:prSet presAssocID="{C32591D1-785F-4367-944F-24E4790CF8CA}" presName="iconSpace" presStyleCnt="0"/>
      <dgm:spPr/>
    </dgm:pt>
    <dgm:pt modelId="{AB50A4B7-FB04-40AF-A0D2-1A8DB58FB61F}" type="pres">
      <dgm:prSet presAssocID="{C32591D1-785F-4367-944F-24E4790CF8CA}" presName="parTx" presStyleLbl="revTx" presStyleIdx="2" presStyleCnt="6">
        <dgm:presLayoutVars>
          <dgm:chMax val="0"/>
          <dgm:chPref val="0"/>
        </dgm:presLayoutVars>
      </dgm:prSet>
      <dgm:spPr/>
    </dgm:pt>
    <dgm:pt modelId="{87605DCA-A057-4B8D-91A9-C11CDB5A41C2}" type="pres">
      <dgm:prSet presAssocID="{C32591D1-785F-4367-944F-24E4790CF8CA}" presName="txSpace" presStyleCnt="0"/>
      <dgm:spPr/>
    </dgm:pt>
    <dgm:pt modelId="{ABD42D1F-1E4D-4681-ABF4-B6185C5BFD28}" type="pres">
      <dgm:prSet presAssocID="{C32591D1-785F-4367-944F-24E4790CF8CA}" presName="desTx" presStyleLbl="revTx" presStyleIdx="3" presStyleCnt="6">
        <dgm:presLayoutVars/>
      </dgm:prSet>
      <dgm:spPr/>
    </dgm:pt>
    <dgm:pt modelId="{4A34E5B0-3BEE-4361-8B13-D01D72199E6A}" type="pres">
      <dgm:prSet presAssocID="{6CDA5FED-659D-4C2E-90D5-466CA0FB01B7}" presName="sibTrans" presStyleCnt="0"/>
      <dgm:spPr/>
    </dgm:pt>
    <dgm:pt modelId="{545A8994-9480-4E2E-BF74-294B60FFF9E7}" type="pres">
      <dgm:prSet presAssocID="{571B2F64-564E-4BDD-982D-38B9C0B31FEA}" presName="compNode" presStyleCnt="0"/>
      <dgm:spPr/>
    </dgm:pt>
    <dgm:pt modelId="{1B1371E3-DF55-4D58-A2C8-2603A523C7C1}" type="pres">
      <dgm:prSet presAssocID="{571B2F64-564E-4BDD-982D-38B9C0B31FEA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ansfer"/>
        </a:ext>
      </dgm:extLst>
    </dgm:pt>
    <dgm:pt modelId="{F8D5EF54-188A-428C-95AD-9CFAD032A078}" type="pres">
      <dgm:prSet presAssocID="{571B2F64-564E-4BDD-982D-38B9C0B31FEA}" presName="iconSpace" presStyleCnt="0"/>
      <dgm:spPr/>
    </dgm:pt>
    <dgm:pt modelId="{454CC70F-F1B2-49DF-8AF3-94F0D744EEE7}" type="pres">
      <dgm:prSet presAssocID="{571B2F64-564E-4BDD-982D-38B9C0B31FEA}" presName="parTx" presStyleLbl="revTx" presStyleIdx="4" presStyleCnt="6">
        <dgm:presLayoutVars>
          <dgm:chMax val="0"/>
          <dgm:chPref val="0"/>
        </dgm:presLayoutVars>
      </dgm:prSet>
      <dgm:spPr/>
    </dgm:pt>
    <dgm:pt modelId="{51B4F4D1-1D4B-4134-80C4-A01D4ACD2E78}" type="pres">
      <dgm:prSet presAssocID="{571B2F64-564E-4BDD-982D-38B9C0B31FEA}" presName="txSpace" presStyleCnt="0"/>
      <dgm:spPr/>
    </dgm:pt>
    <dgm:pt modelId="{EB253DDD-F10F-4FAE-969D-FC62DFFB099E}" type="pres">
      <dgm:prSet presAssocID="{571B2F64-564E-4BDD-982D-38B9C0B31FEA}" presName="desTx" presStyleLbl="revTx" presStyleIdx="5" presStyleCnt="6">
        <dgm:presLayoutVars/>
      </dgm:prSet>
      <dgm:spPr/>
    </dgm:pt>
  </dgm:ptLst>
  <dgm:cxnLst>
    <dgm:cxn modelId="{10A1ED11-F35E-4E1C-BE82-FA1EA8C0BD62}" srcId="{FE65A89B-66FB-4301-B1BE-66F23E6F5E99}" destId="{C32591D1-785F-4367-944F-24E4790CF8CA}" srcOrd="1" destOrd="0" parTransId="{8976EBA2-A15B-466E-9311-DB26A786F1D3}" sibTransId="{6CDA5FED-659D-4C2E-90D5-466CA0FB01B7}"/>
    <dgm:cxn modelId="{E599E61D-E7B7-410E-9561-A9A0C5935E9E}" type="presOf" srcId="{1F812155-E7AB-4614-BB36-1DD38E7BEF01}" destId="{E1BACBB5-0D00-4570-A3E4-94D012B3410E}" srcOrd="0" destOrd="0" presId="urn:microsoft.com/office/officeart/2018/2/layout/IconLabelDescriptionList"/>
    <dgm:cxn modelId="{BF2DC033-139B-442E-A457-7D2099CDDF82}" type="presOf" srcId="{3927EE00-72CB-4C5F-A9D3-4C3613FB8893}" destId="{EB253DDD-F10F-4FAE-969D-FC62DFFB099E}" srcOrd="0" destOrd="0" presId="urn:microsoft.com/office/officeart/2018/2/layout/IconLabelDescriptionList"/>
    <dgm:cxn modelId="{50E23036-623F-4F79-97EE-5AC8B882D517}" srcId="{C32591D1-785F-4367-944F-24E4790CF8CA}" destId="{1ED570FE-788A-4220-B915-E27EF2DBDEAF}" srcOrd="0" destOrd="0" parTransId="{8A5B3174-23B1-4C5B-97DD-E3E924BFC263}" sibTransId="{98D0E6D0-130B-459E-B009-97DD9A17CE5D}"/>
    <dgm:cxn modelId="{C19FAB38-6E53-4C32-97D2-A4E7F15F0BA5}" srcId="{FE65A89B-66FB-4301-B1BE-66F23E6F5E99}" destId="{571B2F64-564E-4BDD-982D-38B9C0B31FEA}" srcOrd="2" destOrd="0" parTransId="{F8203370-1C03-4AAD-89F8-FFE05A0BD6CA}" sibTransId="{69872D99-27B7-46FF-BF11-079E182BE2B5}"/>
    <dgm:cxn modelId="{09F4524B-143A-402E-806E-A50A43BF105E}" type="presOf" srcId="{1ED570FE-788A-4220-B915-E27EF2DBDEAF}" destId="{ABD42D1F-1E4D-4681-ABF4-B6185C5BFD28}" srcOrd="0" destOrd="0" presId="urn:microsoft.com/office/officeart/2018/2/layout/IconLabelDescriptionList"/>
    <dgm:cxn modelId="{E023A366-E83D-4F39-94DB-0D5F5B7245F8}" srcId="{FE65A89B-66FB-4301-B1BE-66F23E6F5E99}" destId="{03756924-7C91-4D20-BBAB-90467548C9C7}" srcOrd="0" destOrd="0" parTransId="{A6F1C307-5277-4DB3-B056-E77EB817AA82}" sibTransId="{B82936D6-DB27-45CE-9573-80D4654FEA72}"/>
    <dgm:cxn modelId="{91A90576-85B3-47C9-9F61-F65DFE22BB4D}" type="presOf" srcId="{571B2F64-564E-4BDD-982D-38B9C0B31FEA}" destId="{454CC70F-F1B2-49DF-8AF3-94F0D744EEE7}" srcOrd="0" destOrd="0" presId="urn:microsoft.com/office/officeart/2018/2/layout/IconLabelDescriptionList"/>
    <dgm:cxn modelId="{9829758A-3F80-487B-9CA8-867C10AFCA60}" srcId="{03756924-7C91-4D20-BBAB-90467548C9C7}" destId="{1F812155-E7AB-4614-BB36-1DD38E7BEF01}" srcOrd="0" destOrd="0" parTransId="{C3DE7B6C-F55B-4276-B14F-3AEA38C749C8}" sibTransId="{A47F2D0E-10DA-4785-9408-A896D5C7F2D7}"/>
    <dgm:cxn modelId="{8D613F93-6660-4D3F-985C-411DD5590832}" type="presOf" srcId="{C32591D1-785F-4367-944F-24E4790CF8CA}" destId="{AB50A4B7-FB04-40AF-A0D2-1A8DB58FB61F}" srcOrd="0" destOrd="0" presId="urn:microsoft.com/office/officeart/2018/2/layout/IconLabelDescriptionList"/>
    <dgm:cxn modelId="{8DDE05DF-DA23-4F7E-83C7-F9A152AD8596}" type="presOf" srcId="{FE65A89B-66FB-4301-B1BE-66F23E6F5E99}" destId="{E35000CF-BCE9-4882-84AD-CC19FB3D749C}" srcOrd="0" destOrd="0" presId="urn:microsoft.com/office/officeart/2018/2/layout/IconLabelDescriptionList"/>
    <dgm:cxn modelId="{90685DED-D145-4256-BEB4-644AE366D6F7}" type="presOf" srcId="{03756924-7C91-4D20-BBAB-90467548C9C7}" destId="{A518C307-6CCA-47F1-A89B-04ACD7ED5008}" srcOrd="0" destOrd="0" presId="urn:microsoft.com/office/officeart/2018/2/layout/IconLabelDescriptionList"/>
    <dgm:cxn modelId="{6804FBF4-682A-4511-BD30-F690AF6A6030}" srcId="{571B2F64-564E-4BDD-982D-38B9C0B31FEA}" destId="{3927EE00-72CB-4C5F-A9D3-4C3613FB8893}" srcOrd="0" destOrd="0" parTransId="{AA59E221-BEFF-4FE2-8DF8-EF5307188CE9}" sibTransId="{AA32E097-056A-4B96-9F3E-E65CDFB326E4}"/>
    <dgm:cxn modelId="{ED3748DF-FE1E-4E98-828A-EAD5EC2A9DA8}" type="presParOf" srcId="{E35000CF-BCE9-4882-84AD-CC19FB3D749C}" destId="{88643B00-FA25-4E51-BCCD-81EEC92A1E92}" srcOrd="0" destOrd="0" presId="urn:microsoft.com/office/officeart/2018/2/layout/IconLabelDescriptionList"/>
    <dgm:cxn modelId="{245FD3A4-8237-4363-AEC4-5FF7FC6AEC6D}" type="presParOf" srcId="{88643B00-FA25-4E51-BCCD-81EEC92A1E92}" destId="{FBFE4E4D-9D7E-47BF-AE85-B8078D66B6F8}" srcOrd="0" destOrd="0" presId="urn:microsoft.com/office/officeart/2018/2/layout/IconLabelDescriptionList"/>
    <dgm:cxn modelId="{05CF9128-A113-4142-B895-A054FA4A3396}" type="presParOf" srcId="{88643B00-FA25-4E51-BCCD-81EEC92A1E92}" destId="{6E5BBF1C-EC23-4728-9FF5-70948A96E4B9}" srcOrd="1" destOrd="0" presId="urn:microsoft.com/office/officeart/2018/2/layout/IconLabelDescriptionList"/>
    <dgm:cxn modelId="{FB3860BD-136D-402F-B87D-45F217053176}" type="presParOf" srcId="{88643B00-FA25-4E51-BCCD-81EEC92A1E92}" destId="{A518C307-6CCA-47F1-A89B-04ACD7ED5008}" srcOrd="2" destOrd="0" presId="urn:microsoft.com/office/officeart/2018/2/layout/IconLabelDescriptionList"/>
    <dgm:cxn modelId="{6E4DCE71-D5DF-41C5-B570-FDCB987B1EBD}" type="presParOf" srcId="{88643B00-FA25-4E51-BCCD-81EEC92A1E92}" destId="{29402689-3754-49AA-B75E-78533955EC8E}" srcOrd="3" destOrd="0" presId="urn:microsoft.com/office/officeart/2018/2/layout/IconLabelDescriptionList"/>
    <dgm:cxn modelId="{2968499B-FB73-4F66-9B35-63CC07D8B0F5}" type="presParOf" srcId="{88643B00-FA25-4E51-BCCD-81EEC92A1E92}" destId="{E1BACBB5-0D00-4570-A3E4-94D012B3410E}" srcOrd="4" destOrd="0" presId="urn:microsoft.com/office/officeart/2018/2/layout/IconLabelDescriptionList"/>
    <dgm:cxn modelId="{FD9634CA-1C27-435D-9D25-36D48A5BBD80}" type="presParOf" srcId="{E35000CF-BCE9-4882-84AD-CC19FB3D749C}" destId="{661755A7-3A00-420B-9487-0EDA04D5A055}" srcOrd="1" destOrd="0" presId="urn:microsoft.com/office/officeart/2018/2/layout/IconLabelDescriptionList"/>
    <dgm:cxn modelId="{07F13335-6D73-479A-8C03-25F1830D1429}" type="presParOf" srcId="{E35000CF-BCE9-4882-84AD-CC19FB3D749C}" destId="{3AE3E9A4-52FF-4CDB-8436-C20077002983}" srcOrd="2" destOrd="0" presId="urn:microsoft.com/office/officeart/2018/2/layout/IconLabelDescriptionList"/>
    <dgm:cxn modelId="{B5873D1A-254A-43DC-884F-BD061BDB7A99}" type="presParOf" srcId="{3AE3E9A4-52FF-4CDB-8436-C20077002983}" destId="{A1405FC9-24FF-4A6F-A99E-85421B289F00}" srcOrd="0" destOrd="0" presId="urn:microsoft.com/office/officeart/2018/2/layout/IconLabelDescriptionList"/>
    <dgm:cxn modelId="{0931EDF1-62E7-495A-9C0A-B4886B002DDF}" type="presParOf" srcId="{3AE3E9A4-52FF-4CDB-8436-C20077002983}" destId="{BB9A82A9-DFBC-4533-8CE9-562272F199D9}" srcOrd="1" destOrd="0" presId="urn:microsoft.com/office/officeart/2018/2/layout/IconLabelDescriptionList"/>
    <dgm:cxn modelId="{18041C64-0E3E-4B69-8107-BFA48D8A5FE2}" type="presParOf" srcId="{3AE3E9A4-52FF-4CDB-8436-C20077002983}" destId="{AB50A4B7-FB04-40AF-A0D2-1A8DB58FB61F}" srcOrd="2" destOrd="0" presId="urn:microsoft.com/office/officeart/2018/2/layout/IconLabelDescriptionList"/>
    <dgm:cxn modelId="{1EC9DAB2-0560-4040-AF5D-4F21A2B9B0A2}" type="presParOf" srcId="{3AE3E9A4-52FF-4CDB-8436-C20077002983}" destId="{87605DCA-A057-4B8D-91A9-C11CDB5A41C2}" srcOrd="3" destOrd="0" presId="urn:microsoft.com/office/officeart/2018/2/layout/IconLabelDescriptionList"/>
    <dgm:cxn modelId="{D7BE4318-2324-4C91-A792-08CB19544794}" type="presParOf" srcId="{3AE3E9A4-52FF-4CDB-8436-C20077002983}" destId="{ABD42D1F-1E4D-4681-ABF4-B6185C5BFD28}" srcOrd="4" destOrd="0" presId="urn:microsoft.com/office/officeart/2018/2/layout/IconLabelDescriptionList"/>
    <dgm:cxn modelId="{928CD735-25B2-4D42-A7A4-A4B837DB47C6}" type="presParOf" srcId="{E35000CF-BCE9-4882-84AD-CC19FB3D749C}" destId="{4A34E5B0-3BEE-4361-8B13-D01D72199E6A}" srcOrd="3" destOrd="0" presId="urn:microsoft.com/office/officeart/2018/2/layout/IconLabelDescriptionList"/>
    <dgm:cxn modelId="{48BB4114-5219-44DA-A2A8-CB435080E30B}" type="presParOf" srcId="{E35000CF-BCE9-4882-84AD-CC19FB3D749C}" destId="{545A8994-9480-4E2E-BF74-294B60FFF9E7}" srcOrd="4" destOrd="0" presId="urn:microsoft.com/office/officeart/2018/2/layout/IconLabelDescriptionList"/>
    <dgm:cxn modelId="{97BCD05E-047A-4EE6-9701-3242C999717F}" type="presParOf" srcId="{545A8994-9480-4E2E-BF74-294B60FFF9E7}" destId="{1B1371E3-DF55-4D58-A2C8-2603A523C7C1}" srcOrd="0" destOrd="0" presId="urn:microsoft.com/office/officeart/2018/2/layout/IconLabelDescriptionList"/>
    <dgm:cxn modelId="{2419C416-C50B-472F-BA05-EAF1AC1CE0F8}" type="presParOf" srcId="{545A8994-9480-4E2E-BF74-294B60FFF9E7}" destId="{F8D5EF54-188A-428C-95AD-9CFAD032A078}" srcOrd="1" destOrd="0" presId="urn:microsoft.com/office/officeart/2018/2/layout/IconLabelDescriptionList"/>
    <dgm:cxn modelId="{139D1C74-FC62-4BB6-BEE1-78824C41B3F8}" type="presParOf" srcId="{545A8994-9480-4E2E-BF74-294B60FFF9E7}" destId="{454CC70F-F1B2-49DF-8AF3-94F0D744EEE7}" srcOrd="2" destOrd="0" presId="urn:microsoft.com/office/officeart/2018/2/layout/IconLabelDescriptionList"/>
    <dgm:cxn modelId="{89667B93-1FFE-4A84-91E3-3D9F2CD79446}" type="presParOf" srcId="{545A8994-9480-4E2E-BF74-294B60FFF9E7}" destId="{51B4F4D1-1D4B-4134-80C4-A01D4ACD2E78}" srcOrd="3" destOrd="0" presId="urn:microsoft.com/office/officeart/2018/2/layout/IconLabelDescriptionList"/>
    <dgm:cxn modelId="{FCC86F4C-AF05-42F6-8D5D-6878ABEF409B}" type="presParOf" srcId="{545A8994-9480-4E2E-BF74-294B60FFF9E7}" destId="{EB253DDD-F10F-4FAE-969D-FC62DFFB099E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FE4E4D-9D7E-47BF-AE85-B8078D66B6F8}">
      <dsp:nvSpPr>
        <dsp:cNvPr id="0" name=""/>
        <dsp:cNvSpPr/>
      </dsp:nvSpPr>
      <dsp:spPr>
        <a:xfrm>
          <a:off x="295" y="316431"/>
          <a:ext cx="823921" cy="823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18C307-6CCA-47F1-A89B-04ACD7ED5008}">
      <dsp:nvSpPr>
        <dsp:cNvPr id="0" name=""/>
        <dsp:cNvSpPr/>
      </dsp:nvSpPr>
      <dsp:spPr>
        <a:xfrm>
          <a:off x="295" y="1253470"/>
          <a:ext cx="2354062" cy="12579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AU" sz="2400" b="1" kern="1200" dirty="0">
              <a:solidFill>
                <a:schemeClr val="bg1"/>
              </a:solidFill>
            </a:rPr>
            <a:t>Simple splitting</a:t>
          </a:r>
          <a:r>
            <a:rPr lang="en-AU" sz="2400" kern="1200" dirty="0">
              <a:solidFill>
                <a:schemeClr val="bg1"/>
              </a:solidFill>
            </a:rPr>
            <a:t> </a:t>
          </a:r>
          <a:endParaRPr lang="en-US" sz="2400" kern="1200" dirty="0">
            <a:solidFill>
              <a:schemeClr val="bg1"/>
            </a:solidFill>
          </a:endParaRPr>
        </a:p>
      </dsp:txBody>
      <dsp:txXfrm>
        <a:off x="295" y="1253470"/>
        <a:ext cx="2354062" cy="1257952"/>
      </dsp:txXfrm>
    </dsp:sp>
    <dsp:sp modelId="{E1BACBB5-0D00-4570-A3E4-94D012B3410E}">
      <dsp:nvSpPr>
        <dsp:cNvPr id="0" name=""/>
        <dsp:cNvSpPr/>
      </dsp:nvSpPr>
      <dsp:spPr>
        <a:xfrm>
          <a:off x="295" y="2564035"/>
          <a:ext cx="2354062" cy="3830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800" kern="1200" dirty="0" err="1">
              <a:solidFill>
                <a:schemeClr val="bg1"/>
              </a:solidFill>
            </a:rPr>
            <a:t>dgfgdg</a:t>
          </a:r>
          <a:endParaRPr lang="en-US" sz="1800" kern="1200" dirty="0">
            <a:solidFill>
              <a:schemeClr val="bg1"/>
            </a:solidFill>
          </a:endParaRPr>
        </a:p>
      </dsp:txBody>
      <dsp:txXfrm>
        <a:off x="295" y="2564035"/>
        <a:ext cx="2354062" cy="383036"/>
      </dsp:txXfrm>
    </dsp:sp>
    <dsp:sp modelId="{A1405FC9-24FF-4A6F-A99E-85421B289F00}">
      <dsp:nvSpPr>
        <dsp:cNvPr id="0" name=""/>
        <dsp:cNvSpPr/>
      </dsp:nvSpPr>
      <dsp:spPr>
        <a:xfrm>
          <a:off x="2766318" y="316431"/>
          <a:ext cx="823921" cy="823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50A4B7-FB04-40AF-A0D2-1A8DB58FB61F}">
      <dsp:nvSpPr>
        <dsp:cNvPr id="0" name=""/>
        <dsp:cNvSpPr/>
      </dsp:nvSpPr>
      <dsp:spPr>
        <a:xfrm>
          <a:off x="2766318" y="1253470"/>
          <a:ext cx="2354062" cy="12579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AU" sz="2400" b="1" kern="1200" dirty="0">
              <a:solidFill>
                <a:schemeClr val="bg1"/>
              </a:solidFill>
            </a:rPr>
            <a:t>Structure-based splitting</a:t>
          </a:r>
          <a:r>
            <a:rPr lang="en-AU" sz="2400" kern="1200" dirty="0">
              <a:solidFill>
                <a:schemeClr val="bg1"/>
              </a:solidFill>
            </a:rPr>
            <a:t> </a:t>
          </a:r>
          <a:endParaRPr lang="en-US" sz="2400" kern="1200" dirty="0">
            <a:solidFill>
              <a:schemeClr val="bg1"/>
            </a:solidFill>
          </a:endParaRPr>
        </a:p>
      </dsp:txBody>
      <dsp:txXfrm>
        <a:off x="2766318" y="1253470"/>
        <a:ext cx="2354062" cy="1257952"/>
      </dsp:txXfrm>
    </dsp:sp>
    <dsp:sp modelId="{ABD42D1F-1E4D-4681-ABF4-B6185C5BFD28}">
      <dsp:nvSpPr>
        <dsp:cNvPr id="0" name=""/>
        <dsp:cNvSpPr/>
      </dsp:nvSpPr>
      <dsp:spPr>
        <a:xfrm>
          <a:off x="2766318" y="2564035"/>
          <a:ext cx="2354062" cy="3830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800" kern="1200" dirty="0" err="1">
              <a:solidFill>
                <a:schemeClr val="bg1"/>
              </a:solidFill>
            </a:rPr>
            <a:t>dfgdgdgd</a:t>
          </a:r>
          <a:endParaRPr lang="en-US" sz="1800" kern="1200" dirty="0">
            <a:solidFill>
              <a:schemeClr val="bg1"/>
            </a:solidFill>
          </a:endParaRPr>
        </a:p>
      </dsp:txBody>
      <dsp:txXfrm>
        <a:off x="2766318" y="2564035"/>
        <a:ext cx="2354062" cy="383036"/>
      </dsp:txXfrm>
    </dsp:sp>
    <dsp:sp modelId="{1B1371E3-DF55-4D58-A2C8-2603A523C7C1}">
      <dsp:nvSpPr>
        <dsp:cNvPr id="0" name=""/>
        <dsp:cNvSpPr/>
      </dsp:nvSpPr>
      <dsp:spPr>
        <a:xfrm>
          <a:off x="5532342" y="316431"/>
          <a:ext cx="823921" cy="823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4CC70F-F1B2-49DF-8AF3-94F0D744EEE7}">
      <dsp:nvSpPr>
        <dsp:cNvPr id="0" name=""/>
        <dsp:cNvSpPr/>
      </dsp:nvSpPr>
      <dsp:spPr>
        <a:xfrm>
          <a:off x="5532342" y="1253470"/>
          <a:ext cx="2354062" cy="12579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AU" sz="2400" b="1" kern="1200" dirty="0">
              <a:solidFill>
                <a:schemeClr val="bg1"/>
              </a:solidFill>
            </a:rPr>
            <a:t>Meaning-based splitting</a:t>
          </a:r>
          <a:r>
            <a:rPr lang="en-AU" sz="2400" kern="1200" dirty="0">
              <a:solidFill>
                <a:schemeClr val="bg1"/>
              </a:solidFill>
            </a:rPr>
            <a:t> (semantic chunking) </a:t>
          </a:r>
          <a:endParaRPr lang="en-US" sz="2400" kern="1200" dirty="0">
            <a:solidFill>
              <a:schemeClr val="bg1"/>
            </a:solidFill>
          </a:endParaRPr>
        </a:p>
      </dsp:txBody>
      <dsp:txXfrm>
        <a:off x="5532342" y="1253470"/>
        <a:ext cx="2354062" cy="1257952"/>
      </dsp:txXfrm>
    </dsp:sp>
    <dsp:sp modelId="{EB253DDD-F10F-4FAE-969D-FC62DFFB099E}">
      <dsp:nvSpPr>
        <dsp:cNvPr id="0" name=""/>
        <dsp:cNvSpPr/>
      </dsp:nvSpPr>
      <dsp:spPr>
        <a:xfrm>
          <a:off x="5532342" y="2564035"/>
          <a:ext cx="2354062" cy="3830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800" kern="1200" dirty="0" err="1">
              <a:solidFill>
                <a:schemeClr val="bg1"/>
              </a:solidFill>
            </a:rPr>
            <a:t>dgfdgdg</a:t>
          </a:r>
          <a:endParaRPr lang="en-US" sz="1800" kern="1200" dirty="0">
            <a:solidFill>
              <a:schemeClr val="bg1"/>
            </a:solidFill>
          </a:endParaRPr>
        </a:p>
      </dsp:txBody>
      <dsp:txXfrm>
        <a:off x="5532342" y="2564035"/>
        <a:ext cx="2354062" cy="38303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FE4E4D-9D7E-47BF-AE85-B8078D66B6F8}">
      <dsp:nvSpPr>
        <dsp:cNvPr id="0" name=""/>
        <dsp:cNvSpPr/>
      </dsp:nvSpPr>
      <dsp:spPr>
        <a:xfrm>
          <a:off x="295" y="316431"/>
          <a:ext cx="823921" cy="82392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18C307-6CCA-47F1-A89B-04ACD7ED5008}">
      <dsp:nvSpPr>
        <dsp:cNvPr id="0" name=""/>
        <dsp:cNvSpPr/>
      </dsp:nvSpPr>
      <dsp:spPr>
        <a:xfrm>
          <a:off x="295" y="1253470"/>
          <a:ext cx="2354062" cy="12579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AU" sz="2400" b="1" kern="1200" dirty="0">
              <a:solidFill>
                <a:schemeClr val="bg1"/>
              </a:solidFill>
            </a:rPr>
            <a:t>Simple splitting</a:t>
          </a:r>
          <a:r>
            <a:rPr lang="en-AU" sz="2400" kern="1200" dirty="0">
              <a:solidFill>
                <a:schemeClr val="bg1"/>
              </a:solidFill>
            </a:rPr>
            <a:t> </a:t>
          </a:r>
          <a:endParaRPr lang="en-US" sz="2400" kern="1200" dirty="0">
            <a:solidFill>
              <a:schemeClr val="bg1"/>
            </a:solidFill>
          </a:endParaRPr>
        </a:p>
      </dsp:txBody>
      <dsp:txXfrm>
        <a:off x="295" y="1253470"/>
        <a:ext cx="2354062" cy="1257952"/>
      </dsp:txXfrm>
    </dsp:sp>
    <dsp:sp modelId="{E1BACBB5-0D00-4570-A3E4-94D012B3410E}">
      <dsp:nvSpPr>
        <dsp:cNvPr id="0" name=""/>
        <dsp:cNvSpPr/>
      </dsp:nvSpPr>
      <dsp:spPr>
        <a:xfrm>
          <a:off x="295" y="2564035"/>
          <a:ext cx="2354062" cy="3830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800" kern="1200" dirty="0" err="1">
              <a:solidFill>
                <a:schemeClr val="bg1"/>
              </a:solidFill>
            </a:rPr>
            <a:t>dgfgdg</a:t>
          </a:r>
          <a:endParaRPr lang="en-US" sz="1800" kern="1200" dirty="0">
            <a:solidFill>
              <a:schemeClr val="bg1"/>
            </a:solidFill>
          </a:endParaRPr>
        </a:p>
      </dsp:txBody>
      <dsp:txXfrm>
        <a:off x="295" y="2564035"/>
        <a:ext cx="2354062" cy="383036"/>
      </dsp:txXfrm>
    </dsp:sp>
    <dsp:sp modelId="{A1405FC9-24FF-4A6F-A99E-85421B289F00}">
      <dsp:nvSpPr>
        <dsp:cNvPr id="0" name=""/>
        <dsp:cNvSpPr/>
      </dsp:nvSpPr>
      <dsp:spPr>
        <a:xfrm>
          <a:off x="2766318" y="316431"/>
          <a:ext cx="823921" cy="82392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50A4B7-FB04-40AF-A0D2-1A8DB58FB61F}">
      <dsp:nvSpPr>
        <dsp:cNvPr id="0" name=""/>
        <dsp:cNvSpPr/>
      </dsp:nvSpPr>
      <dsp:spPr>
        <a:xfrm>
          <a:off x="2766318" y="1253470"/>
          <a:ext cx="2354062" cy="12579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AU" sz="2400" b="1" kern="1200" dirty="0">
              <a:solidFill>
                <a:schemeClr val="bg1"/>
              </a:solidFill>
            </a:rPr>
            <a:t>Structure-based splitting</a:t>
          </a:r>
          <a:r>
            <a:rPr lang="en-AU" sz="2400" kern="1200" dirty="0">
              <a:solidFill>
                <a:schemeClr val="bg1"/>
              </a:solidFill>
            </a:rPr>
            <a:t> </a:t>
          </a:r>
          <a:endParaRPr lang="en-US" sz="2400" kern="1200" dirty="0">
            <a:solidFill>
              <a:schemeClr val="bg1"/>
            </a:solidFill>
          </a:endParaRPr>
        </a:p>
      </dsp:txBody>
      <dsp:txXfrm>
        <a:off x="2766318" y="1253470"/>
        <a:ext cx="2354062" cy="1257952"/>
      </dsp:txXfrm>
    </dsp:sp>
    <dsp:sp modelId="{ABD42D1F-1E4D-4681-ABF4-B6185C5BFD28}">
      <dsp:nvSpPr>
        <dsp:cNvPr id="0" name=""/>
        <dsp:cNvSpPr/>
      </dsp:nvSpPr>
      <dsp:spPr>
        <a:xfrm>
          <a:off x="2766318" y="2564035"/>
          <a:ext cx="2354062" cy="3830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800" kern="1200" dirty="0" err="1">
              <a:solidFill>
                <a:schemeClr val="bg1"/>
              </a:solidFill>
            </a:rPr>
            <a:t>dfgdgdgd</a:t>
          </a:r>
          <a:endParaRPr lang="en-US" sz="1800" kern="1200" dirty="0">
            <a:solidFill>
              <a:schemeClr val="bg1"/>
            </a:solidFill>
          </a:endParaRPr>
        </a:p>
      </dsp:txBody>
      <dsp:txXfrm>
        <a:off x="2766318" y="2564035"/>
        <a:ext cx="2354062" cy="383036"/>
      </dsp:txXfrm>
    </dsp:sp>
    <dsp:sp modelId="{1B1371E3-DF55-4D58-A2C8-2603A523C7C1}">
      <dsp:nvSpPr>
        <dsp:cNvPr id="0" name=""/>
        <dsp:cNvSpPr/>
      </dsp:nvSpPr>
      <dsp:spPr>
        <a:xfrm>
          <a:off x="5532342" y="316431"/>
          <a:ext cx="823921" cy="82392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4CC70F-F1B2-49DF-8AF3-94F0D744EEE7}">
      <dsp:nvSpPr>
        <dsp:cNvPr id="0" name=""/>
        <dsp:cNvSpPr/>
      </dsp:nvSpPr>
      <dsp:spPr>
        <a:xfrm>
          <a:off x="5532342" y="1253470"/>
          <a:ext cx="2354062" cy="12579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AU" sz="2400" b="1" kern="1200" dirty="0">
              <a:solidFill>
                <a:schemeClr val="bg1"/>
              </a:solidFill>
            </a:rPr>
            <a:t>Meaning-based splitting</a:t>
          </a:r>
          <a:r>
            <a:rPr lang="en-AU" sz="2400" kern="1200" dirty="0">
              <a:solidFill>
                <a:schemeClr val="bg1"/>
              </a:solidFill>
            </a:rPr>
            <a:t> (semantic chunking) </a:t>
          </a:r>
          <a:endParaRPr lang="en-US" sz="2400" kern="1200" dirty="0">
            <a:solidFill>
              <a:schemeClr val="bg1"/>
            </a:solidFill>
          </a:endParaRPr>
        </a:p>
      </dsp:txBody>
      <dsp:txXfrm>
        <a:off x="5532342" y="1253470"/>
        <a:ext cx="2354062" cy="1257952"/>
      </dsp:txXfrm>
    </dsp:sp>
    <dsp:sp modelId="{EB253DDD-F10F-4FAE-969D-FC62DFFB099E}">
      <dsp:nvSpPr>
        <dsp:cNvPr id="0" name=""/>
        <dsp:cNvSpPr/>
      </dsp:nvSpPr>
      <dsp:spPr>
        <a:xfrm>
          <a:off x="5532342" y="2564035"/>
          <a:ext cx="2354062" cy="3830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800" kern="1200" dirty="0" err="1">
              <a:solidFill>
                <a:schemeClr val="bg1"/>
              </a:solidFill>
            </a:rPr>
            <a:t>dgfdgdg</a:t>
          </a:r>
          <a:endParaRPr lang="en-US" sz="1800" kern="1200" dirty="0">
            <a:solidFill>
              <a:schemeClr val="bg1"/>
            </a:solidFill>
          </a:endParaRPr>
        </a:p>
      </dsp:txBody>
      <dsp:txXfrm>
        <a:off x="5532342" y="2564035"/>
        <a:ext cx="2354062" cy="3830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656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“Let’s begin with the basics — what exactly is an LLM?”
🔹 “LLM stands for Large Language Model. These are advanced machine learning models trained on billions of words — from books, websites, research papers, code, and more.”
🔹 “Unlike a database, they don’t memorize facts. They predict the most likely next word or token, based on context. So when you ask a question, they’re essentially constructing a response on the fly — word by word.”
🔹 “They’ve been designed to understand and generate human-like text — which is why they can write emails, summarize reports, and even translate languages.”
🔹 “You’ll often hear terms like summarize, classify, extract, generate. These are core capabilities — and they map directly to the kinds of text-based tasks we do in social science and government work.”
🔹 “Importantly, you don’t ‘install’ these models like software — they’re usually accessed via APIs or inside tools like Colab, OpenAI Playground, or Gemini.”
🔹 “And finally, while they’re not perfect — they are incredibly powerful, and improving rapidly. Which is exactly why we’re here: to learn how to harness them safely, creatively, and strategically.”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Early Days of NLP:
•1950s-1980s: Rule-based systems and symbolic AI. Early methods relied on handcrafted rules and simple statistical models.
•Limitations: Limited scalability, difficulty in handling complex language nuances, and high dependency on domain-specific knowledge.
2. Statistical NLP:
•1990s-2000s: Introduction of probabilistic models like Hidden Markov Models (HMMs) and Statistical Machine Translation (SMT).
•Shift to Data-Driven Approaches: Emphasis on using large text corpora for training models.
•Limitations: Still struggled with context, polysemy (multiple meanings of words), and long-range dependencies.
3. Neural Networks and Deep Learning:
•2010s: The rise of deep learning brought models like Word2Vec, which learned word embeddings capturing semantic meaning.
•Recurrent Neural Networks (RNNs) and LSTMs: Improved handling of sequences but were still limited by the vanishing gradient problem.
•Attention Mechanisms: Introduced in models like Transformers, enabling the handling of long-range dependencies more effectively.
4. The Transformer Revolution:
•2017: Introduction of the Transformer model by Vaswani et al., which replaced RNNs with self-attention mechanisms.
•Why Transformers? They allow for parallelization, better handling of context, and scalability in training large datasets.
•Birth of Pre-trained Models: Models like BERT, GPT, and T5 emerged, pre-trained on vast amounts of data and fine-tuned for specific tasks.
5. Emergence of Large Language Models (LLMs):
•2020s: LLMs like GPT-3, GPT-4, BERT, and others grew in scale, trained on billions of parameters.
•Why LLMs?
•Contextual Understanding: LLMs can capture nuanced meanings and context over long text sequences.
•Few-shot/Zero-shot Learning: Ability to perform tasks with minimal or no specific training data.
•Versatility: LLMs can be applied across diverse NLP tasks, from translation to summarization and beyond.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PrincipleDescription
🧠 Self-Attention
Lets the model “look around” the entire sentence and determine which words are most relevant to each other. Critical for disambiguating meaning across long-range dependencies.
🔢 Positional Encoding
Since the model doesn’t process words in order like humans, this encodes the position of each token using math (sine/cosine) so the model knows the difference between “The cat sat” and “Sat the cat.”
🏗️ Transformer Block: Feedforward + Normalization + Depth
Each token passes through a small neural network, followed by normalization and residual connections (like scaffolding). These blocks are stacked — GPT-3 uses 96 of them — giving the model deep representational power.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“A modality refers to the type of data a model can process — like plain text, images, audio, structured tables, or even video.
Some models handle just one — these are unimodal. Others are built to handle multiple types — these are multimodal.”
“This distinction isn’t just semantic — it fundamentally changes the model’s architecture and what it can do.”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“Unimodal models like GPT-3 are optimized for token-level prediction in plain text. They’re fast, clean, and ideal for classic NLP tasks like summarisation or classification.”
“Multimodal models, like GPT-4V or Gemini, include additional input pathways — for example, image encoders — and a fusion layer that allows them to reason across modalities. These are essential for tasks like answering questions about a chart, a scanned PDF, or even a photo.”
“Bimodal and cross-modal models are even more specialized — they match one input type to another, like generating a caption from an image or retrieving the best image for a sentence.”
“Instruction-tuned models, regardless of modality, are built to follow natural-language commands — and they thrive on JSON, survey outputs, or prompt chains.”
“So if you’re coding interviews — unimodal is enough. But if you’re analyzing public sentiment from TikTok clips or combining image + text in a field report, you’ll need multimodal architecture.”
“Understanding how modality shapes model type helps you make smart, fit-for-purpose decisions — whether you're deploying a chatbot, building a pipeline, or evaluating tools for your team.”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Master" Target="../slideMasters/slideMaster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Master" Target="../slideMasters/slideMaster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DB724-A820-1FC1-BCCA-D91DE677E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71806B-101A-B986-0D8C-42A5FB5B2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9CC6C-0F03-0946-B2C8-28F1A58370D1}" type="datetimeFigureOut">
              <a:rPr lang="en-US" smtClean="0"/>
              <a:t>2/4/26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8CAA7C-D425-78AA-25B6-462256A52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BBF8A-9F48-6005-CBAB-49FADDBDC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5DD8C-6CD2-F24C-8762-0794C59F579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E0A8C1C-D663-0462-864B-AE481ECD255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8650" y="1476375"/>
            <a:ext cx="7886700" cy="29813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37954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C6D81-706D-9461-92E6-C215D42356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>
            <a:normAutofit/>
          </a:bodyPr>
          <a:lstStyle>
            <a:lvl1pPr algn="ctr">
              <a:defRPr sz="33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FC99BE-3807-534F-CA8C-C9C2E34498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>
            <a:normAutofit/>
          </a:bodyPr>
          <a:lstStyle>
            <a:lvl1pPr marL="0" indent="0" algn="ctr">
              <a:buNone/>
              <a:defRPr sz="165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17" name="Date Placeholder 3">
            <a:extLst>
              <a:ext uri="{FF2B5EF4-FFF2-40B4-BE49-F238E27FC236}">
                <a16:creationId xmlns:a16="http://schemas.microsoft.com/office/drawing/2014/main" id="{07978FC6-B0CD-F761-FAB7-3F1A0CBA061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/>
          <a:lstStyle/>
          <a:p>
            <a:fld id="{8209CC6C-0F03-0946-B2C8-28F1A58370D1}" type="datetimeFigureOut">
              <a:rPr lang="en-US" smtClean="0"/>
              <a:t>2/4/26</a:t>
            </a:fld>
            <a:endParaRPr lang="en-US"/>
          </a:p>
        </p:txBody>
      </p:sp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64241527-F7FB-2CB9-BF19-6D7C4BDB6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5BA3388C-B448-1C43-798F-A6DF06CE6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lstStyle/>
          <a:p>
            <a:fld id="{7345DD8C-6CD2-F24C-8762-0794C59F57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03818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B6E28-7800-D12F-A549-B8CAD5B72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CE0D6777-287F-5F2B-7A53-09E204DFCC6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09CC6C-0F03-0946-B2C8-28F1A58370D1}" type="datetimeFigureOut">
              <a:rPr lang="en-US" smtClean="0"/>
              <a:t>2/4/26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790E134-B3EB-A178-C292-425C57A65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7B333A8-45FF-0F09-0771-AAA7950BE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7345DD8C-6CD2-F24C-8762-0794C59F57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30001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D755D-55CA-A230-ADD6-1FAB76B77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6B1525E-184D-74D7-2077-FD77170A27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09CC6C-0F03-0946-B2C8-28F1A58370D1}" type="datetimeFigureOut">
              <a:rPr lang="en-US" smtClean="0"/>
              <a:t>2/4/26</a:t>
            </a:fld>
            <a:endParaRPr 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16AE188D-937D-50B9-7110-F5137F541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442D4F69-2916-7048-1249-41055A755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7345DD8C-6CD2-F24C-8762-0794C59F5795}" type="slidenum">
              <a:rPr lang="en-US" smtClean="0"/>
              <a:t>‹#›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3C9E177-2425-14B7-EF81-2683E5C406D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8651" y="1518048"/>
            <a:ext cx="2485430" cy="134064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B2AFA533-1872-19F9-B770-8B96DEC6D72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29286" y="1525191"/>
            <a:ext cx="2485430" cy="134064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3" name="Content Placeholder 4">
            <a:extLst>
              <a:ext uri="{FF2B5EF4-FFF2-40B4-BE49-F238E27FC236}">
                <a16:creationId xmlns:a16="http://schemas.microsoft.com/office/drawing/2014/main" id="{F8064560-FF0D-9354-3DDD-82C28C37A7F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29920" y="1525191"/>
            <a:ext cx="2485430" cy="134064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8" name="Content Placeholder 4">
            <a:extLst>
              <a:ext uri="{FF2B5EF4-FFF2-40B4-BE49-F238E27FC236}">
                <a16:creationId xmlns:a16="http://schemas.microsoft.com/office/drawing/2014/main" id="{64C47D47-0955-0C74-37C6-0D2663DCD268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8651" y="3123009"/>
            <a:ext cx="2485430" cy="134064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11200992-D91E-8C30-4BE4-1F49C67EFAD8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329286" y="3130153"/>
            <a:ext cx="2485430" cy="134064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20" name="Content Placeholder 4">
            <a:extLst>
              <a:ext uri="{FF2B5EF4-FFF2-40B4-BE49-F238E27FC236}">
                <a16:creationId xmlns:a16="http://schemas.microsoft.com/office/drawing/2014/main" id="{0A260D8E-555B-D7BC-FA2F-CE3FCC798C7A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029920" y="3130153"/>
            <a:ext cx="2485430" cy="134064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310890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07CC1-2DB0-0389-C41C-BC3673D10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1DCA51-7D2E-D842-2012-5A35B3C12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209CC6C-0F03-0946-B2C8-28F1A58370D1}" type="datetimeFigureOut">
              <a:rPr lang="en-US" smtClean="0"/>
              <a:t>2/4/26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65B553-E44F-EE3C-2C78-006B4C1C9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0393C7-9148-FE11-8BA1-30C3D68E9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345DD8C-6CD2-F24C-8762-0794C59F5795}" type="slidenum">
              <a:rPr lang="en-US" smtClean="0"/>
              <a:t>‹#›</a:t>
            </a:fld>
            <a:endParaRPr lang="en-US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8A035C71-37B4-0C0B-6776-D89DBF1BA25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89390212"/>
              </p:ext>
            </p:extLst>
          </p:nvPr>
        </p:nvGraphicFramePr>
        <p:xfrm>
          <a:off x="628650" y="1369219"/>
          <a:ext cx="7886700" cy="32635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5049210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C4EF6-BF8E-8F21-0898-41B611166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AA27A5-3836-F9E8-20DE-951FCF84E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9CC6C-0F03-0946-B2C8-28F1A58370D1}" type="datetimeFigureOut">
              <a:rPr lang="en-US" smtClean="0"/>
              <a:t>2/4/26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3DBE03-E5AA-6C8F-476F-97AD98A78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40FDC4-0705-52F9-F183-5F8ABDCDB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5DD8C-6CD2-F24C-8762-0794C59F5795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D7D7822-A71E-3CCF-4A1D-FB44D13F8D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5528" y="1493607"/>
            <a:ext cx="1921669" cy="2994172"/>
          </a:xfrm>
          <a:solidFill>
            <a:schemeClr val="bg1"/>
          </a:solidFill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27C77C5D-FCC0-0774-1A84-6940987C9D0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28662" y="1493607"/>
            <a:ext cx="1921669" cy="2994172"/>
          </a:xfrm>
          <a:solidFill>
            <a:schemeClr val="bg1"/>
          </a:solidFill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8472E325-487C-2E12-C616-230F0071E7D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41796" y="1493607"/>
            <a:ext cx="1921669" cy="2994172"/>
          </a:xfrm>
          <a:solidFill>
            <a:schemeClr val="bg1"/>
          </a:solidFill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301C00B7-7081-384C-86EF-37EF7A835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954930" y="1499623"/>
            <a:ext cx="1921669" cy="2994172"/>
          </a:xfrm>
          <a:solidFill>
            <a:schemeClr val="bg1"/>
          </a:solidFill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432931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C4EF6-BF8E-8F21-0898-41B611166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AA27A5-3836-F9E8-20DE-951FCF84E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9CC6C-0F03-0946-B2C8-28F1A58370D1}" type="datetimeFigureOut">
              <a:rPr lang="en-US" smtClean="0"/>
              <a:t>2/4/26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3DBE03-E5AA-6C8F-476F-97AD98A78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40FDC4-0705-52F9-F183-5F8ABDCDB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5DD8C-6CD2-F24C-8762-0794C59F5795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0E2999C-9246-5DFE-56E1-2100AB6A308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8650" y="1496020"/>
            <a:ext cx="2400300" cy="30432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43D26641-F796-F8AB-4AC2-C46A494A952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71850" y="1496020"/>
            <a:ext cx="2400300" cy="30432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B0D7ABC9-7675-4BB1-F5A1-F89D2BCCD72D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15050" y="1496020"/>
            <a:ext cx="2400300" cy="30432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004867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D755D-55CA-A230-ADD6-1FAB76B77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862C01-1979-66B7-E2C0-CE0E608475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57F27EDD-F24D-148A-08BB-F13C94795A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209CC6C-0F03-0946-B2C8-28F1A58370D1}" type="datetimeFigureOut">
              <a:rPr lang="en-US" smtClean="0"/>
              <a:t>2/4/26</a:t>
            </a:fld>
            <a:endParaRPr lang="en-US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0BCB72BC-A7F0-039A-1B8F-B18AE95C0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CFBA28F-736A-C187-E61C-5634FCA01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345DD8C-6CD2-F24C-8762-0794C59F57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85754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1A626-402A-FED1-4B6B-D8862C82C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AC9F03-175F-AD2A-6678-0AC470F26B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BC29DC-31F0-97AB-E99C-1252CCFCA5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09CC6C-0F03-0946-B2C8-28F1A58370D1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A6C460-60C4-0116-B8AA-CB117C315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0E4D39-D778-7D09-6957-ED2FABD13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32734"/>
            <a:ext cx="2057400" cy="273844"/>
          </a:xfrm>
          <a:prstGeom prst="rect">
            <a:avLst/>
          </a:prstGeom>
        </p:spPr>
        <p:txBody>
          <a:bodyPr/>
          <a:lstStyle/>
          <a:p>
            <a:fld id="{7345DD8C-6CD2-F24C-8762-0794C59F57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83168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AE40A-4D16-2725-3305-3FD1E75A6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6DF1FC-EEF6-811B-C5CC-060A0C35FD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64920F-1235-E030-4597-C342E15072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40086B-623B-076C-62A4-08EC05C3626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09CC6C-0F03-0946-B2C8-28F1A58370D1}" type="datetimeFigureOut">
              <a:rPr lang="en-US" smtClean="0"/>
              <a:t>2/4/26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2D4003-A0B6-CDA9-F7FB-2AB734735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049837-DF7D-1752-2137-3D76F35AF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32734"/>
            <a:ext cx="2057400" cy="273844"/>
          </a:xfrm>
          <a:prstGeom prst="rect">
            <a:avLst/>
          </a:prstGeom>
        </p:spPr>
        <p:txBody>
          <a:bodyPr/>
          <a:lstStyle/>
          <a:p>
            <a:fld id="{7345DD8C-6CD2-F24C-8762-0794C59F57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85001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4AFB1-9E4C-A7F5-CEC0-AB6C32C29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0578ED-4D31-B929-E54D-A17859D6BC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CD6C54-4B08-FB3F-2260-22D9EB8677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FA54BC-D992-9377-4744-762448E7F9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FA6CD7-CF60-4D6A-1BC5-377CDC4C8A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9018FE-0C32-8760-EB63-31AB68A94D7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09CC6C-0F03-0946-B2C8-28F1A58370D1}" type="datetimeFigureOut">
              <a:rPr lang="en-US" smtClean="0"/>
              <a:t>2/4/26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86F9EA-8858-2196-C2CC-606F0C6D3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E55C84-3A3B-66EC-EC75-D1DBB208C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32734"/>
            <a:ext cx="2057400" cy="273844"/>
          </a:xfrm>
          <a:prstGeom prst="rect">
            <a:avLst/>
          </a:prstGeom>
        </p:spPr>
        <p:txBody>
          <a:bodyPr/>
          <a:lstStyle/>
          <a:p>
            <a:fld id="{7345DD8C-6CD2-F24C-8762-0794C59F57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04489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EF27B-1BA3-214F-C639-A632A9E7C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E721B2-05F1-00DD-8098-D20E82E1245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09CC6C-0F03-0946-B2C8-28F1A58370D1}" type="datetimeFigureOut">
              <a:rPr lang="en-US" smtClean="0"/>
              <a:t>2/4/26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CC7B2F-5A2A-E9FB-8409-469C0A349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F5B96E-5401-26DC-4E3C-CB7F9A0E7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32734"/>
            <a:ext cx="2057400" cy="273844"/>
          </a:xfrm>
          <a:prstGeom prst="rect">
            <a:avLst/>
          </a:prstGeom>
        </p:spPr>
        <p:txBody>
          <a:bodyPr/>
          <a:lstStyle/>
          <a:p>
            <a:fld id="{7345DD8C-6CD2-F24C-8762-0794C59F57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231906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5C4B84-1E43-EC11-C480-D317DC1BD46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09CC6C-0F03-0946-B2C8-28F1A58370D1}" type="datetimeFigureOut">
              <a:rPr lang="en-US" smtClean="0"/>
              <a:t>2/4/26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9A0193-9438-42A7-A19C-98FC8FB7B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152881-1A2E-BE17-6244-7E34B3E06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32734"/>
            <a:ext cx="2057400" cy="273844"/>
          </a:xfrm>
          <a:prstGeom prst="rect">
            <a:avLst/>
          </a:prstGeom>
        </p:spPr>
        <p:txBody>
          <a:bodyPr/>
          <a:lstStyle/>
          <a:p>
            <a:fld id="{7345DD8C-6CD2-F24C-8762-0794C59F57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425638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204B2-2D25-1E9C-E32C-086E6F4A8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ACF558-ECEF-A02C-2384-9466A042D9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19C081-F07C-65EF-5661-3E8B1C8743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FD47A8-81B2-5CD6-D867-7DD54B3D843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09CC6C-0F03-0946-B2C8-28F1A58370D1}" type="datetimeFigureOut">
              <a:rPr lang="en-US" smtClean="0"/>
              <a:t>2/4/26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FBC00A-5519-5F66-5FC6-689A6B6AA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DDBA1B-FD53-B1B1-E19F-D744C2C94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32734"/>
            <a:ext cx="2057400" cy="273844"/>
          </a:xfrm>
          <a:prstGeom prst="rect">
            <a:avLst/>
          </a:prstGeom>
        </p:spPr>
        <p:txBody>
          <a:bodyPr/>
          <a:lstStyle/>
          <a:p>
            <a:fld id="{7345DD8C-6CD2-F24C-8762-0794C59F57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269949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EEEE4F2-48F4-EA06-A219-F6BD4AA73A07}"/>
              </a:ext>
            </a:extLst>
          </p:cNvPr>
          <p:cNvSpPr/>
          <p:nvPr/>
        </p:nvSpPr>
        <p:spPr>
          <a:xfrm>
            <a:off x="0" y="0"/>
            <a:ext cx="3579019" cy="51435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3204B2-2D25-1E9C-E32C-086E6F4A8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920" y="201216"/>
            <a:ext cx="3123475" cy="1085834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ACF558-ECEF-A02C-2384-9466A042D9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19C081-F07C-65EF-5661-3E8B1C8743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14920" y="1537096"/>
            <a:ext cx="3123475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DDBA1B-FD53-B1B1-E19F-D744C2C94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32734"/>
            <a:ext cx="2057400" cy="273844"/>
          </a:xfrm>
          <a:prstGeom prst="rect">
            <a:avLst/>
          </a:prstGeom>
        </p:spPr>
        <p:txBody>
          <a:bodyPr/>
          <a:lstStyle/>
          <a:p>
            <a:fld id="{7345DD8C-6CD2-F24C-8762-0794C59F5795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22E1390-257E-AC51-9BD6-DE1C5511B779}"/>
              </a:ext>
            </a:extLst>
          </p:cNvPr>
          <p:cNvCxnSpPr/>
          <p:nvPr/>
        </p:nvCxnSpPr>
        <p:spPr>
          <a:xfrm>
            <a:off x="314920" y="1410744"/>
            <a:ext cx="3123475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1795873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12C2A-BABC-8D85-A2BC-01E0721D5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441B45-E3F6-48B0-9550-BE5AD9A4CD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449BDC-1946-BF62-FE6A-59B0130257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4DF3D6-8122-6710-9F24-4D382DC951B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09CC6C-0F03-0946-B2C8-28F1A58370D1}" type="datetimeFigureOut">
              <a:rPr lang="en-US" smtClean="0"/>
              <a:t>2/4/26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19BECB-3E17-6226-3258-52CA469F8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6BF3AC-CF54-7FD5-4811-3DBB6CF1F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32734"/>
            <a:ext cx="2057400" cy="273844"/>
          </a:xfrm>
          <a:prstGeom prst="rect">
            <a:avLst/>
          </a:prstGeom>
        </p:spPr>
        <p:txBody>
          <a:bodyPr/>
          <a:lstStyle/>
          <a:p>
            <a:fld id="{7345DD8C-6CD2-F24C-8762-0794C59F57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865946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0E73A-7B2F-2E2F-102A-AA7498530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F229BE-F890-02B4-6B04-EBE9510766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75F62-848A-6F98-2798-06B29B0428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09CC6C-0F03-0946-B2C8-28F1A58370D1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36634B-C924-5FB9-E1D9-EDCF4A6F0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EF0C6C-CACF-2720-442F-7881736AC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32734"/>
            <a:ext cx="2057400" cy="273844"/>
          </a:xfrm>
          <a:prstGeom prst="rect">
            <a:avLst/>
          </a:prstGeom>
        </p:spPr>
        <p:txBody>
          <a:bodyPr/>
          <a:lstStyle/>
          <a:p>
            <a:fld id="{7345DD8C-6CD2-F24C-8762-0794C59F57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112161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1AAE0B-6A80-53DB-66A1-CB01E823B4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CC9415-4008-793F-4253-C51784AF6C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72C9EE-1BAE-CA3C-E2C0-D3338208B2D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09CC6C-0F03-0946-B2C8-28F1A58370D1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17B786-5714-87DF-57F0-C45DC18AE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2C9F4F-1E84-D7B0-BB0E-231E01569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32734"/>
            <a:ext cx="2057400" cy="273844"/>
          </a:xfrm>
          <a:prstGeom prst="rect">
            <a:avLst/>
          </a:prstGeom>
        </p:spPr>
        <p:txBody>
          <a:bodyPr/>
          <a:lstStyle/>
          <a:p>
            <a:fld id="{7345DD8C-6CD2-F24C-8762-0794C59F57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669292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980479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C6D81-706D-9461-92E6-C215D42356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>
            <a:normAutofit/>
          </a:bodyPr>
          <a:lstStyle>
            <a:lvl1pPr algn="ctr">
              <a:defRPr sz="33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FC99BE-3807-534F-CA8C-C9C2E34498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>
            <a:normAutofit/>
          </a:bodyPr>
          <a:lstStyle>
            <a:lvl1pPr marL="0" indent="0" algn="ctr">
              <a:buNone/>
              <a:defRPr sz="165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17" name="Date Placeholder 3">
            <a:extLst>
              <a:ext uri="{FF2B5EF4-FFF2-40B4-BE49-F238E27FC236}">
                <a16:creationId xmlns:a16="http://schemas.microsoft.com/office/drawing/2014/main" id="{07978FC6-B0CD-F761-FAB7-3F1A0CBA061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/>
          <a:lstStyle/>
          <a:p>
            <a:fld id="{8209CC6C-0F03-0946-B2C8-28F1A58370D1}" type="datetimeFigureOut">
              <a:rPr lang="en-US" smtClean="0"/>
              <a:t>2/4/26</a:t>
            </a:fld>
            <a:endParaRPr lang="en-US"/>
          </a:p>
        </p:txBody>
      </p:sp>
      <p:sp>
        <p:nvSpPr>
          <p:cNvPr id="18" name="Footer Placeholder 4">
            <a:extLst>
              <a:ext uri="{FF2B5EF4-FFF2-40B4-BE49-F238E27FC236}">
                <a16:creationId xmlns:a16="http://schemas.microsoft.com/office/drawing/2014/main" id="{64241527-F7FB-2CB9-BF19-6D7C4BDB6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5BA3388C-B448-1C43-798F-A6DF06CE6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lstStyle/>
          <a:p>
            <a:fld id="{7345DD8C-6CD2-F24C-8762-0794C59F57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0736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B6E28-7800-D12F-A549-B8CAD5B72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CE0D6777-287F-5F2B-7A53-09E204DFCC6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09CC6C-0F03-0946-B2C8-28F1A58370D1}" type="datetimeFigureOut">
              <a:rPr lang="en-US" smtClean="0"/>
              <a:t>2/4/26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790E134-B3EB-A178-C292-425C57A65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7B333A8-45FF-0F09-0771-AAA7950BE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7345DD8C-6CD2-F24C-8762-0794C59F57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003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D755D-55CA-A230-ADD6-1FAB76B77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862C01-1979-66B7-E2C0-CE0E608475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6B1525E-184D-74D7-2077-FD77170A27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09CC6C-0F03-0946-B2C8-28F1A58370D1}" type="datetimeFigureOut">
              <a:rPr lang="en-US" smtClean="0"/>
              <a:t>2/4/26</a:t>
            </a:fld>
            <a:endParaRPr 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16AE188D-937D-50B9-7110-F5137F541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442D4F69-2916-7048-1249-41055A755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7345DD8C-6CD2-F24C-8762-0794C59F57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96379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07CC1-2DB0-0389-C41C-BC3673D10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1DCA51-7D2E-D842-2012-5A35B3C12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209CC6C-0F03-0946-B2C8-28F1A58370D1}" type="datetimeFigureOut">
              <a:rPr lang="en-US" smtClean="0"/>
              <a:t>2/4/26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65B553-E44F-EE3C-2C78-006B4C1C9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0393C7-9148-FE11-8BA1-30C3D68E9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345DD8C-6CD2-F24C-8762-0794C59F5795}" type="slidenum">
              <a:rPr lang="en-US" smtClean="0"/>
              <a:t>‹#›</a:t>
            </a:fld>
            <a:endParaRPr lang="en-US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8A035C71-37B4-0C0B-6776-D89DBF1BA25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89390212"/>
              </p:ext>
            </p:extLst>
          </p:nvPr>
        </p:nvGraphicFramePr>
        <p:xfrm>
          <a:off x="628650" y="1369219"/>
          <a:ext cx="7886700" cy="32635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178051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C4EF6-BF8E-8F21-0898-41B611166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AA27A5-3836-F9E8-20DE-951FCF84E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9CC6C-0F03-0946-B2C8-28F1A58370D1}" type="datetimeFigureOut">
              <a:rPr lang="en-US" smtClean="0"/>
              <a:t>2/4/26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3DBE03-E5AA-6C8F-476F-97AD98A78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40FDC4-0705-52F9-F183-5F8ABDCDB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5DD8C-6CD2-F24C-8762-0794C59F5795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D7D7822-A71E-3CCF-4A1D-FB44D13F8D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5528" y="1493607"/>
            <a:ext cx="1921669" cy="2994172"/>
          </a:xfrm>
          <a:solidFill>
            <a:schemeClr val="bg1"/>
          </a:solidFill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27C77C5D-FCC0-0774-1A84-6940987C9D0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28662" y="1493607"/>
            <a:ext cx="1921669" cy="2994172"/>
          </a:xfrm>
          <a:solidFill>
            <a:schemeClr val="bg1"/>
          </a:solidFill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8472E325-487C-2E12-C616-230F0071E7D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41796" y="1493607"/>
            <a:ext cx="1921669" cy="2994172"/>
          </a:xfrm>
          <a:solidFill>
            <a:schemeClr val="bg1"/>
          </a:solidFill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301C00B7-7081-384C-86EF-37EF7A835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954930" y="1499623"/>
            <a:ext cx="1921669" cy="2994172"/>
          </a:xfrm>
          <a:solidFill>
            <a:schemeClr val="bg1"/>
          </a:solidFill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6574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C4EF6-BF8E-8F21-0898-41B611166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AA27A5-3836-F9E8-20DE-951FCF84E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9CC6C-0F03-0946-B2C8-28F1A58370D1}" type="datetimeFigureOut">
              <a:rPr lang="en-US" smtClean="0"/>
              <a:t>2/4/26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3DBE03-E5AA-6C8F-476F-97AD98A78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40FDC4-0705-52F9-F183-5F8ABDCDB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5DD8C-6CD2-F24C-8762-0794C59F5795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8F3480E-99A4-7104-8F51-570E272EF1E4}"/>
              </a:ext>
            </a:extLst>
          </p:cNvPr>
          <p:cNvSpPr/>
          <p:nvPr/>
        </p:nvSpPr>
        <p:spPr>
          <a:xfrm>
            <a:off x="628651" y="1433200"/>
            <a:ext cx="2400300" cy="3043989"/>
          </a:xfrm>
          <a:prstGeom prst="rect">
            <a:avLst/>
          </a:prstGeom>
          <a:solidFill>
            <a:schemeClr val="bg1">
              <a:lumMod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4D4FD0-8A14-33CB-F022-D933FF06F325}"/>
              </a:ext>
            </a:extLst>
          </p:cNvPr>
          <p:cNvSpPr/>
          <p:nvPr/>
        </p:nvSpPr>
        <p:spPr>
          <a:xfrm>
            <a:off x="3371851" y="1433200"/>
            <a:ext cx="2400300" cy="30439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dirty="0" err="1">
                <a:solidFill>
                  <a:schemeClr val="tx1"/>
                </a:solidFill>
              </a:rPr>
              <a:t>dgs</a:t>
            </a:r>
            <a:endParaRPr lang="en-US" sz="1350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B0B8779-9BC8-298C-EFA1-9EFC1D3DD059}"/>
              </a:ext>
            </a:extLst>
          </p:cNvPr>
          <p:cNvSpPr/>
          <p:nvPr/>
        </p:nvSpPr>
        <p:spPr>
          <a:xfrm>
            <a:off x="6115051" y="1433200"/>
            <a:ext cx="2400300" cy="3043989"/>
          </a:xfrm>
          <a:prstGeom prst="rect">
            <a:avLst/>
          </a:prstGeom>
          <a:solidFill>
            <a:schemeClr val="bg1">
              <a:lumMod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120295734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D755D-55CA-A230-ADD6-1FAB76B77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862C01-1979-66B7-E2C0-CE0E608475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57F27EDD-F24D-148A-08BB-F13C94795A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209CC6C-0F03-0946-B2C8-28F1A58370D1}" type="datetimeFigureOut">
              <a:rPr lang="en-US" smtClean="0"/>
              <a:t>2/4/26</a:t>
            </a:fld>
            <a:endParaRPr lang="en-US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0BCB72BC-A7F0-039A-1B8F-B18AE95C0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CFBA28F-736A-C187-E61C-5634FCA01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345DD8C-6CD2-F24C-8762-0794C59F57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232898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1A626-402A-FED1-4B6B-D8862C82C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AC9F03-175F-AD2A-6678-0AC470F26B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BC29DC-31F0-97AB-E99C-1252CCFCA5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09CC6C-0F03-0946-B2C8-28F1A58370D1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A6C460-60C4-0116-B8AA-CB117C315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0E4D39-D778-7D09-6957-ED2FABD13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32734"/>
            <a:ext cx="2057400" cy="273844"/>
          </a:xfrm>
          <a:prstGeom prst="rect">
            <a:avLst/>
          </a:prstGeom>
        </p:spPr>
        <p:txBody>
          <a:bodyPr/>
          <a:lstStyle/>
          <a:p>
            <a:fld id="{7345DD8C-6CD2-F24C-8762-0794C59F57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2475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AE40A-4D16-2725-3305-3FD1E75A6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6DF1FC-EEF6-811B-C5CC-060A0C35FD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64920F-1235-E030-4597-C342E15072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40086B-623B-076C-62A4-08EC05C3626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09CC6C-0F03-0946-B2C8-28F1A58370D1}" type="datetimeFigureOut">
              <a:rPr lang="en-US" smtClean="0"/>
              <a:t>2/4/26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2D4003-A0B6-CDA9-F7FB-2AB734735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049837-DF7D-1752-2137-3D76F35AF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32734"/>
            <a:ext cx="2057400" cy="273844"/>
          </a:xfrm>
          <a:prstGeom prst="rect">
            <a:avLst/>
          </a:prstGeom>
        </p:spPr>
        <p:txBody>
          <a:bodyPr/>
          <a:lstStyle/>
          <a:p>
            <a:fld id="{7345DD8C-6CD2-F24C-8762-0794C59F57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87565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4AFB1-9E4C-A7F5-CEC0-AB6C32C29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0578ED-4D31-B929-E54D-A17859D6BC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CD6C54-4B08-FB3F-2260-22D9EB8677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FA54BC-D992-9377-4744-762448E7F9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FA6CD7-CF60-4D6A-1BC5-377CDC4C8A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9018FE-0C32-8760-EB63-31AB68A94D7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09CC6C-0F03-0946-B2C8-28F1A58370D1}" type="datetimeFigureOut">
              <a:rPr lang="en-US" smtClean="0"/>
              <a:t>2/4/26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86F9EA-8858-2196-C2CC-606F0C6D3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E55C84-3A3B-66EC-EC75-D1DBB208C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32734"/>
            <a:ext cx="2057400" cy="273844"/>
          </a:xfrm>
          <a:prstGeom prst="rect">
            <a:avLst/>
          </a:prstGeom>
        </p:spPr>
        <p:txBody>
          <a:bodyPr/>
          <a:lstStyle/>
          <a:p>
            <a:fld id="{7345DD8C-6CD2-F24C-8762-0794C59F57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6281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EF27B-1BA3-214F-C639-A632A9E7C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E721B2-05F1-00DD-8098-D20E82E1245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09CC6C-0F03-0946-B2C8-28F1A58370D1}" type="datetimeFigureOut">
              <a:rPr lang="en-US" smtClean="0"/>
              <a:t>2/4/26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CC7B2F-5A2A-E9FB-8409-469C0A349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F5B96E-5401-26DC-4E3C-CB7F9A0E7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32734"/>
            <a:ext cx="2057400" cy="273844"/>
          </a:xfrm>
          <a:prstGeom prst="rect">
            <a:avLst/>
          </a:prstGeom>
        </p:spPr>
        <p:txBody>
          <a:bodyPr/>
          <a:lstStyle/>
          <a:p>
            <a:fld id="{7345DD8C-6CD2-F24C-8762-0794C59F57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57224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5C4B84-1E43-EC11-C480-D317DC1BD46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09CC6C-0F03-0946-B2C8-28F1A58370D1}" type="datetimeFigureOut">
              <a:rPr lang="en-US" smtClean="0"/>
              <a:t>2/4/26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9A0193-9438-42A7-A19C-98FC8FB7B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152881-1A2E-BE17-6244-7E34B3E06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32734"/>
            <a:ext cx="2057400" cy="273844"/>
          </a:xfrm>
          <a:prstGeom prst="rect">
            <a:avLst/>
          </a:prstGeom>
        </p:spPr>
        <p:txBody>
          <a:bodyPr/>
          <a:lstStyle/>
          <a:p>
            <a:fld id="{7345DD8C-6CD2-F24C-8762-0794C59F57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96308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204B2-2D25-1E9C-E32C-086E6F4A8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ACF558-ECEF-A02C-2384-9466A042D9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19C081-F07C-65EF-5661-3E8B1C8743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FD47A8-81B2-5CD6-D867-7DD54B3D843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09CC6C-0F03-0946-B2C8-28F1A58370D1}" type="datetimeFigureOut">
              <a:rPr lang="en-US" smtClean="0"/>
              <a:t>2/4/26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FBC00A-5519-5F66-5FC6-689A6B6AA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DDBA1B-FD53-B1B1-E19F-D744C2C94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32734"/>
            <a:ext cx="2057400" cy="273844"/>
          </a:xfrm>
          <a:prstGeom prst="rect">
            <a:avLst/>
          </a:prstGeom>
        </p:spPr>
        <p:txBody>
          <a:bodyPr/>
          <a:lstStyle/>
          <a:p>
            <a:fld id="{7345DD8C-6CD2-F24C-8762-0794C59F57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90643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EEEE4F2-48F4-EA06-A219-F6BD4AA73A07}"/>
              </a:ext>
            </a:extLst>
          </p:cNvPr>
          <p:cNvSpPr/>
          <p:nvPr/>
        </p:nvSpPr>
        <p:spPr>
          <a:xfrm>
            <a:off x="0" y="0"/>
            <a:ext cx="3579019" cy="51435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3204B2-2D25-1E9C-E32C-086E6F4A8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920" y="201216"/>
            <a:ext cx="3123475" cy="1085834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ACF558-ECEF-A02C-2384-9466A042D9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19C081-F07C-65EF-5661-3E8B1C8743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14920" y="1537096"/>
            <a:ext cx="3123475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DDBA1B-FD53-B1B1-E19F-D744C2C94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32734"/>
            <a:ext cx="2057400" cy="273844"/>
          </a:xfrm>
          <a:prstGeom prst="rect">
            <a:avLst/>
          </a:prstGeom>
        </p:spPr>
        <p:txBody>
          <a:bodyPr/>
          <a:lstStyle/>
          <a:p>
            <a:fld id="{7345DD8C-6CD2-F24C-8762-0794C59F5795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22E1390-257E-AC51-9BD6-DE1C5511B779}"/>
              </a:ext>
            </a:extLst>
          </p:cNvPr>
          <p:cNvCxnSpPr/>
          <p:nvPr/>
        </p:nvCxnSpPr>
        <p:spPr>
          <a:xfrm>
            <a:off x="314920" y="1410744"/>
            <a:ext cx="3123475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376221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12C2A-BABC-8D85-A2BC-01E0721D5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441B45-E3F6-48B0-9550-BE5AD9A4CD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449BDC-1946-BF62-FE6A-59B0130257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4DF3D6-8122-6710-9F24-4D382DC951B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09CC6C-0F03-0946-B2C8-28F1A58370D1}" type="datetimeFigureOut">
              <a:rPr lang="en-US" smtClean="0"/>
              <a:t>2/4/26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19BECB-3E17-6226-3258-52CA469F8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6BF3AC-CF54-7FD5-4811-3DBB6CF1F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32734"/>
            <a:ext cx="2057400" cy="273844"/>
          </a:xfrm>
          <a:prstGeom prst="rect">
            <a:avLst/>
          </a:prstGeom>
        </p:spPr>
        <p:txBody>
          <a:bodyPr/>
          <a:lstStyle/>
          <a:p>
            <a:fld id="{7345DD8C-6CD2-F24C-8762-0794C59F57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14208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0E73A-7B2F-2E2F-102A-AA7498530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F229BE-F890-02B4-6B04-EBE9510766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75F62-848A-6F98-2798-06B29B0428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09CC6C-0F03-0946-B2C8-28F1A58370D1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36634B-C924-5FB9-E1D9-EDCF4A6F0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EF0C6C-CACF-2720-442F-7881736AC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32734"/>
            <a:ext cx="2057400" cy="273844"/>
          </a:xfrm>
          <a:prstGeom prst="rect">
            <a:avLst/>
          </a:prstGeom>
        </p:spPr>
        <p:txBody>
          <a:bodyPr/>
          <a:lstStyle/>
          <a:p>
            <a:fld id="{7345DD8C-6CD2-F24C-8762-0794C59F57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38754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1AAE0B-6A80-53DB-66A1-CB01E823B4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CC9415-4008-793F-4253-C51784AF6C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72C9EE-1BAE-CA3C-E2C0-D3338208B2D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09CC6C-0F03-0946-B2C8-28F1A58370D1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17B786-5714-87DF-57F0-C45DC18AE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2C9F4F-1E84-D7B0-BB0E-231E01569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32734"/>
            <a:ext cx="2057400" cy="273844"/>
          </a:xfrm>
          <a:prstGeom prst="rect">
            <a:avLst/>
          </a:prstGeom>
        </p:spPr>
        <p:txBody>
          <a:bodyPr/>
          <a:lstStyle/>
          <a:p>
            <a:fld id="{7345DD8C-6CD2-F24C-8762-0794C59F57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6040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13" Type="http://schemas.openxmlformats.org/officeDocument/2006/relationships/slideLayout" Target="../slideLayouts/slideLayout32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31.xml"/><Relationship Id="rId17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35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4.xml"/><Relationship Id="rId15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29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14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4DD21CA-D1A0-0EE9-D258-8BDD163D7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759993-F3AC-40C5-F3AB-25E809406B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pic>
        <p:nvPicPr>
          <p:cNvPr id="12" name="Picture 11" descr="A black background with grey and blue text&#10;&#10;Description automatically generated">
            <a:extLst>
              <a:ext uri="{FF2B5EF4-FFF2-40B4-BE49-F238E27FC236}">
                <a16:creationId xmlns:a16="http://schemas.microsoft.com/office/drawing/2014/main" id="{CE56C674-BE38-9D96-2C06-DE0C4F4D64EF}"/>
              </a:ext>
            </a:extLst>
          </p:cNvPr>
          <p:cNvPicPr>
            <a:picLocks noChangeAspect="1"/>
          </p:cNvPicPr>
          <p:nvPr/>
        </p:nvPicPr>
        <p:blipFill rotWithShape="1">
          <a:blip r:embed="rId21"/>
          <a:srcRect l="22864" t="17914" r="27294" b="26547"/>
          <a:stretch/>
        </p:blipFill>
        <p:spPr>
          <a:xfrm>
            <a:off x="8515351" y="4714785"/>
            <a:ext cx="473501" cy="351743"/>
          </a:xfrm>
          <a:prstGeom prst="rect">
            <a:avLst/>
          </a:prstGeom>
        </p:spPr>
      </p:pic>
      <p:sp>
        <p:nvSpPr>
          <p:cNvPr id="19" name="Date Placeholder 3">
            <a:extLst>
              <a:ext uri="{FF2B5EF4-FFF2-40B4-BE49-F238E27FC236}">
                <a16:creationId xmlns:a16="http://schemas.microsoft.com/office/drawing/2014/main" id="{FC7BA887-89A3-9114-E6C3-5FADA55EAC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09CC6C-0F03-0946-B2C8-28F1A58370D1}" type="datetimeFigureOut">
              <a:rPr lang="en-US" smtClean="0"/>
              <a:t>2/4/26</a:t>
            </a:fld>
            <a:endParaRPr lang="en-US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4706DCE5-65B8-C427-4E8A-9F38FC2969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BD9BA6A9-82D6-9356-2DAC-F589B252F9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7345DD8C-6CD2-F24C-8762-0794C59F5795}" type="slidenum">
              <a:rPr lang="en-US" smtClean="0"/>
              <a:t>‹#›</a:t>
            </a:fld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1DADBD9-CC47-3D70-1C42-515F60991161}"/>
              </a:ext>
            </a:extLst>
          </p:cNvPr>
          <p:cNvCxnSpPr/>
          <p:nvPr/>
        </p:nvCxnSpPr>
        <p:spPr>
          <a:xfrm>
            <a:off x="628650" y="4702172"/>
            <a:ext cx="78867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0171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7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4DD21CA-D1A0-0EE9-D258-8BDD163D7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759993-F3AC-40C5-F3AB-25E809406B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pic>
        <p:nvPicPr>
          <p:cNvPr id="12" name="Picture 11" descr="A black background with grey and blue text&#10;&#10;Description automatically generated">
            <a:extLst>
              <a:ext uri="{FF2B5EF4-FFF2-40B4-BE49-F238E27FC236}">
                <a16:creationId xmlns:a16="http://schemas.microsoft.com/office/drawing/2014/main" id="{CE56C674-BE38-9D96-2C06-DE0C4F4D64EF}"/>
              </a:ext>
            </a:extLst>
          </p:cNvPr>
          <p:cNvPicPr>
            <a:picLocks noChangeAspect="1"/>
          </p:cNvPicPr>
          <p:nvPr/>
        </p:nvPicPr>
        <p:blipFill rotWithShape="1">
          <a:blip r:embed="rId19"/>
          <a:srcRect l="22864" t="17914" r="27294" b="26547"/>
          <a:stretch/>
        </p:blipFill>
        <p:spPr>
          <a:xfrm>
            <a:off x="8515351" y="4714785"/>
            <a:ext cx="473501" cy="351743"/>
          </a:xfrm>
          <a:prstGeom prst="rect">
            <a:avLst/>
          </a:prstGeom>
        </p:spPr>
      </p:pic>
      <p:sp>
        <p:nvSpPr>
          <p:cNvPr id="19" name="Date Placeholder 3">
            <a:extLst>
              <a:ext uri="{FF2B5EF4-FFF2-40B4-BE49-F238E27FC236}">
                <a16:creationId xmlns:a16="http://schemas.microsoft.com/office/drawing/2014/main" id="{FC7BA887-89A3-9114-E6C3-5FADA55EAC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8209CC6C-0F03-0946-B2C8-28F1A58370D1}" type="datetimeFigureOut">
              <a:rPr lang="en-US" smtClean="0"/>
              <a:t>2/4/26</a:t>
            </a:fld>
            <a:endParaRPr lang="en-US"/>
          </a:p>
        </p:txBody>
      </p:sp>
      <p:sp>
        <p:nvSpPr>
          <p:cNvPr id="20" name="Footer Placeholder 4">
            <a:extLst>
              <a:ext uri="{FF2B5EF4-FFF2-40B4-BE49-F238E27FC236}">
                <a16:creationId xmlns:a16="http://schemas.microsoft.com/office/drawing/2014/main" id="{4706DCE5-65B8-C427-4E8A-9F38FC2969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BD9BA6A9-82D6-9356-2DAC-F589B252F9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fld id="{7345DD8C-6CD2-F24C-8762-0794C59F5795}" type="slidenum">
              <a:rPr lang="en-US" smtClean="0"/>
              <a:t>‹#›</a:t>
            </a:fld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1DADBD9-CC47-3D70-1C42-515F60991161}"/>
              </a:ext>
            </a:extLst>
          </p:cNvPr>
          <p:cNvCxnSpPr/>
          <p:nvPr/>
        </p:nvCxnSpPr>
        <p:spPr>
          <a:xfrm>
            <a:off x="628650" y="4702172"/>
            <a:ext cx="78867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86443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2" r:id="rId12"/>
    <p:sldLayoutId id="2147483683" r:id="rId13"/>
    <p:sldLayoutId id="2147483684" r:id="rId14"/>
    <p:sldLayoutId id="2147483685" r:id="rId15"/>
    <p:sldLayoutId id="2147483686" r:id="rId16"/>
    <p:sldLayoutId id="2147483687" r:id="rId17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7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1457325"/>
            <a:ext cx="5715000" cy="2233613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609600" y="1457325"/>
            <a:ext cx="6172200" cy="16430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4320"/>
              </a:lnSpc>
              <a:buNone/>
            </a:pPr>
            <a:r>
              <a:rPr lang="en-US" sz="3600" b="1" kern="0" spc="-72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 Ecosystems: </a:t>
            </a:r>
            <a:endParaRPr lang="en-US" sz="3600" dirty="0"/>
          </a:p>
          <a:p>
            <a:pPr marL="0" indent="0" algn="l">
              <a:lnSpc>
                <a:spcPts val="4320"/>
              </a:lnSpc>
              <a:buNone/>
            </a:pPr>
            <a:r>
              <a:rPr lang="en-US" sz="3600" b="1" kern="0" spc="-72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Foundations to Frontiers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600" y="3361518"/>
            <a:ext cx="6172200" cy="476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kern="0" spc="-13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ACSPRI Summer Program 2026 Dr. Maria Prokofieva</a:t>
            </a:r>
            <a:endParaRPr lang="en-US" sz="13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0" y="903260"/>
            <a:ext cx="2371725" cy="355758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535757"/>
            <a:ext cx="1885950" cy="2743200"/>
          </a:xfrm>
          <a:prstGeom prst="rect">
            <a:avLst/>
          </a:prstGeom>
        </p:spPr>
      </p:pic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2238" y="1540520"/>
            <a:ext cx="1885950" cy="2743200"/>
          </a:xfrm>
          <a:prstGeom prst="rect">
            <a:avLst/>
          </a:prstGeom>
        </p:spPr>
      </p:pic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540520"/>
            <a:ext cx="1885950" cy="2743200"/>
          </a:xfrm>
          <a:prstGeom prst="rect">
            <a:avLst/>
          </a:prstGeom>
        </p:spPr>
      </p:pic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3238" y="1535757"/>
            <a:ext cx="1885950" cy="27432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371475" y="1143000"/>
            <a:ext cx="7543800" cy="399779"/>
          </a:xfrm>
          <a:prstGeom prst="rect">
            <a:avLst/>
          </a:prstGeom>
          <a:noFill/>
          <a:ln/>
        </p:spPr>
      </p:sp>
      <p:sp>
        <p:nvSpPr>
          <p:cNvPr id="3" name="Text 1"/>
          <p:cNvSpPr/>
          <p:nvPr/>
        </p:nvSpPr>
        <p:spPr>
          <a:xfrm>
            <a:off x="477945" y="830908"/>
            <a:ext cx="80010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-36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Do LLMs Matter in Social Science?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 rot="-19599">
            <a:off x="609566" y="1218916"/>
            <a:ext cx="4129156" cy="0"/>
          </a:xfrm>
          <a:prstGeom prst="line">
            <a:avLst/>
          </a:prstGeom>
          <a:solidFill>
            <a:srgbClr val="0047AB"/>
          </a:solidFill>
          <a:ln w="50800">
            <a:solidFill>
              <a:srgbClr val="0070F3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09600" y="2185988"/>
            <a:ext cx="1533525" cy="1905000"/>
          </a:xfrm>
          <a:prstGeom prst="rect">
            <a:avLst/>
          </a:prstGeom>
          <a:noFill/>
          <a:ln/>
        </p:spPr>
      </p:sp>
      <p:sp>
        <p:nvSpPr>
          <p:cNvPr id="6" name="Text 4"/>
          <p:cNvSpPr/>
          <p:nvPr/>
        </p:nvSpPr>
        <p:spPr>
          <a:xfrm>
            <a:off x="600075" y="1873896"/>
            <a:ext cx="199072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782"/>
              </a:lnSpc>
              <a:buNone/>
            </a:pPr>
            <a:r>
              <a:rPr lang="en-US" sz="1350" b="1" kern="0" spc="-27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LLMs scale human-level language understanding 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66750" y="2678487"/>
            <a:ext cx="1771650" cy="14125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206"/>
              </a:lnSpc>
              <a:buNone/>
            </a:pPr>
            <a:r>
              <a:rPr lang="en-US" sz="1200" kern="0" spc="-5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They can analyze millions of words — reports, interviews, articles — with nuanced pattern recognition that mimics expert judgment at scale.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667000" y="2185988"/>
            <a:ext cx="1533525" cy="1676400"/>
          </a:xfrm>
          <a:prstGeom prst="rect">
            <a:avLst/>
          </a:prstGeom>
          <a:noFill/>
          <a:ln/>
        </p:spPr>
      </p:sp>
      <p:sp>
        <p:nvSpPr>
          <p:cNvPr id="9" name="Text 7"/>
          <p:cNvSpPr/>
          <p:nvPr/>
        </p:nvSpPr>
        <p:spPr>
          <a:xfrm>
            <a:off x="2639616" y="1992687"/>
            <a:ext cx="199072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782"/>
              </a:lnSpc>
              <a:buNone/>
            </a:pPr>
            <a:r>
              <a:rPr lang="en-US" sz="1350" b="1" kern="0" spc="-27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They reduce cost + time for text-heavy workflows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2733675" y="2907087"/>
            <a:ext cx="1706165" cy="11839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1206"/>
              </a:lnSpc>
            </a:pPr>
            <a:r>
              <a:rPr lang="en-US" sz="1200" kern="0" spc="-5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</a:rPr>
              <a:t>Manual coding, thematic tagging, or policy trend analysis that once took weeks can now be done in hours using reproducible, scriptable methods.</a:t>
            </a:r>
          </a:p>
        </p:txBody>
      </p:sp>
      <p:sp>
        <p:nvSpPr>
          <p:cNvPr id="11" name="Shape 9"/>
          <p:cNvSpPr/>
          <p:nvPr/>
        </p:nvSpPr>
        <p:spPr>
          <a:xfrm>
            <a:off x="4722019" y="2185988"/>
            <a:ext cx="1533525" cy="1905000"/>
          </a:xfrm>
          <a:prstGeom prst="rect">
            <a:avLst/>
          </a:prstGeom>
          <a:noFill/>
          <a:ln/>
        </p:spPr>
      </p:sp>
      <p:sp>
        <p:nvSpPr>
          <p:cNvPr id="12" name="Text 10"/>
          <p:cNvSpPr/>
          <p:nvPr/>
        </p:nvSpPr>
        <p:spPr>
          <a:xfrm>
            <a:off x="4882753" y="1872865"/>
            <a:ext cx="199072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782"/>
              </a:lnSpc>
              <a:buNone/>
            </a:pPr>
            <a:r>
              <a:rPr lang="en-US" sz="1350" b="1" kern="0" spc="-27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Applications include policy, legal analysis, qualitative coding  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862513" y="2847175"/>
            <a:ext cx="1676400" cy="13037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206"/>
              </a:lnSpc>
              <a:buNone/>
            </a:pPr>
            <a:r>
              <a:rPr lang="en-US" sz="1200" kern="0" spc="-5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LLMs are already used to monitor citizen sentiment, identify emerging legal themes, cluster qualitative survey data, and flag ethical risks in reports.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778228" y="2185988"/>
            <a:ext cx="1533525" cy="1905000"/>
          </a:xfrm>
          <a:prstGeom prst="rect">
            <a:avLst/>
          </a:prstGeom>
          <a:noFill/>
          <a:ln/>
        </p:spPr>
      </p:sp>
      <p:sp>
        <p:nvSpPr>
          <p:cNvPr id="15" name="Text 13"/>
          <p:cNvSpPr/>
          <p:nvPr/>
        </p:nvSpPr>
        <p:spPr>
          <a:xfrm>
            <a:off x="6888957" y="1852467"/>
            <a:ext cx="199072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782"/>
              </a:lnSpc>
              <a:buNone/>
            </a:pPr>
            <a:r>
              <a:rPr lang="en-US" sz="1350" b="1" kern="0" spc="-27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Academic access is now feasible — no longer just for Big Tech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866863" y="2787265"/>
            <a:ext cx="1782366" cy="13037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206"/>
              </a:lnSpc>
              <a:buNone/>
            </a:pPr>
            <a:r>
              <a:rPr lang="en-US" sz="1200" kern="0" spc="-5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Open-weight models and APIs (like Hugging Face, OpenAI, Gemini) now allow researchers to apply cutting-edge models with minimal infrastructure.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09600" y="2533650"/>
            <a:ext cx="27432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-36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an LLM?</a:t>
            </a:r>
            <a:endParaRPr lang="en-US" sz="1800" dirty="0"/>
          </a:p>
        </p:txBody>
      </p:sp>
      <p:sp>
        <p:nvSpPr>
          <p:cNvPr id="4" name="Shape 1"/>
          <p:cNvSpPr/>
          <p:nvPr/>
        </p:nvSpPr>
        <p:spPr>
          <a:xfrm rot="557">
            <a:off x="609600" y="3014391"/>
            <a:ext cx="1733550" cy="0"/>
          </a:xfrm>
          <a:prstGeom prst="line">
            <a:avLst/>
          </a:prstGeom>
          <a:solidFill>
            <a:srgbClr val="B11226"/>
          </a:solidFill>
          <a:ln w="50800">
            <a:solidFill>
              <a:srgbClr val="99000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819900" y="1724025"/>
            <a:ext cx="2324100" cy="476250"/>
          </a:xfrm>
          <a:prstGeom prst="rect">
            <a:avLst/>
          </a:prstGeom>
          <a:noFill/>
          <a:ln/>
        </p:spPr>
      </p:sp>
      <p:sp>
        <p:nvSpPr>
          <p:cNvPr id="13" name="Shape 10"/>
          <p:cNvSpPr/>
          <p:nvPr/>
        </p:nvSpPr>
        <p:spPr>
          <a:xfrm>
            <a:off x="6819900" y="2800350"/>
            <a:ext cx="2324100" cy="238125"/>
          </a:xfrm>
          <a:prstGeom prst="rect">
            <a:avLst/>
          </a:prstGeom>
          <a:noFill/>
          <a:ln/>
        </p:spPr>
      </p:sp>
      <p:sp>
        <p:nvSpPr>
          <p:cNvPr id="15" name="Shape 12"/>
          <p:cNvSpPr/>
          <p:nvPr/>
        </p:nvSpPr>
        <p:spPr>
          <a:xfrm>
            <a:off x="6819900" y="3876675"/>
            <a:ext cx="2324100" cy="476250"/>
          </a:xfrm>
          <a:prstGeom prst="rect">
            <a:avLst/>
          </a:prstGeom>
          <a:noFill/>
          <a:ln/>
        </p:spPr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B82F015-3839-22D2-7B8B-3285FC233F14}"/>
              </a:ext>
            </a:extLst>
          </p:cNvPr>
          <p:cNvGrpSpPr/>
          <p:nvPr/>
        </p:nvGrpSpPr>
        <p:grpSpPr>
          <a:xfrm>
            <a:off x="2752725" y="1426368"/>
            <a:ext cx="5781675" cy="3224213"/>
            <a:chOff x="2900364" y="1426368"/>
            <a:chExt cx="5781675" cy="3224213"/>
          </a:xfrm>
        </p:grpSpPr>
        <p:pic>
          <p:nvPicPr>
            <p:cNvPr id="17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900364" y="1426368"/>
              <a:ext cx="5781675" cy="3224213"/>
            </a:xfrm>
            <a:prstGeom prst="rect">
              <a:avLst/>
            </a:prstGeom>
          </p:spPr>
        </p:pic>
        <p:sp>
          <p:nvSpPr>
            <p:cNvPr id="5" name="Shape 2"/>
            <p:cNvSpPr/>
            <p:nvPr/>
          </p:nvSpPr>
          <p:spPr>
            <a:xfrm>
              <a:off x="3390900" y="1724025"/>
              <a:ext cx="2324100" cy="476250"/>
            </a:xfrm>
            <a:prstGeom prst="rect">
              <a:avLst/>
            </a:prstGeom>
            <a:noFill/>
            <a:ln/>
          </p:spPr>
        </p:sp>
        <p:sp>
          <p:nvSpPr>
            <p:cNvPr id="6" name="Text 3"/>
            <p:cNvSpPr/>
            <p:nvPr/>
          </p:nvSpPr>
          <p:spPr>
            <a:xfrm>
              <a:off x="3277826" y="1724025"/>
              <a:ext cx="2343150" cy="47625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lnSpc>
                  <a:spcPts val="1890"/>
                </a:lnSpc>
                <a:buNone/>
              </a:pPr>
              <a:r>
                <a:rPr lang="en-US" sz="1350" kern="0" spc="-13" dirty="0">
                  <a:solidFill>
                    <a:srgbClr val="000000">
                      <a:alpha val="99000"/>
                    </a:srgbClr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Machine learning models trained on billions of words</a:t>
              </a:r>
              <a:endParaRPr lang="en-US" sz="1350" dirty="0"/>
            </a:p>
          </p:txBody>
        </p:sp>
        <p:sp>
          <p:nvSpPr>
            <p:cNvPr id="7" name="Shape 4"/>
            <p:cNvSpPr/>
            <p:nvPr/>
          </p:nvSpPr>
          <p:spPr>
            <a:xfrm>
              <a:off x="3390900" y="2800350"/>
              <a:ext cx="2324100" cy="476250"/>
            </a:xfrm>
            <a:prstGeom prst="rect">
              <a:avLst/>
            </a:prstGeom>
            <a:noFill/>
            <a:ln/>
          </p:spPr>
        </p:sp>
        <p:sp>
          <p:nvSpPr>
            <p:cNvPr id="8" name="Text 5"/>
            <p:cNvSpPr/>
            <p:nvPr/>
          </p:nvSpPr>
          <p:spPr>
            <a:xfrm>
              <a:off x="3262088" y="2800350"/>
              <a:ext cx="2343600" cy="47625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lnSpc>
                  <a:spcPts val="1890"/>
                </a:lnSpc>
                <a:buNone/>
              </a:pPr>
              <a:r>
                <a:rPr lang="en-US" sz="1350" kern="0" spc="-13" dirty="0">
                  <a:solidFill>
                    <a:srgbClr val="000000">
                      <a:alpha val="99000"/>
                    </a:srgbClr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Understand and generate human-like text</a:t>
              </a:r>
              <a:endParaRPr lang="en-US" sz="1350" dirty="0"/>
            </a:p>
          </p:txBody>
        </p:sp>
        <p:sp>
          <p:nvSpPr>
            <p:cNvPr id="9" name="Shape 6"/>
            <p:cNvSpPr/>
            <p:nvPr/>
          </p:nvSpPr>
          <p:spPr>
            <a:xfrm>
              <a:off x="3409950" y="3876675"/>
              <a:ext cx="2324100" cy="476250"/>
            </a:xfrm>
            <a:prstGeom prst="rect">
              <a:avLst/>
            </a:prstGeom>
            <a:noFill/>
            <a:ln/>
          </p:spPr>
        </p:sp>
        <p:sp>
          <p:nvSpPr>
            <p:cNvPr id="10" name="Text 7"/>
            <p:cNvSpPr/>
            <p:nvPr/>
          </p:nvSpPr>
          <p:spPr>
            <a:xfrm>
              <a:off x="3296876" y="3876675"/>
              <a:ext cx="2343600" cy="47625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lnSpc>
                  <a:spcPts val="1890"/>
                </a:lnSpc>
                <a:buNone/>
              </a:pPr>
              <a:r>
                <a:rPr lang="en-US" sz="1350" kern="0" spc="-13" dirty="0">
                  <a:solidFill>
                    <a:srgbClr val="000000">
                      <a:alpha val="99000"/>
                    </a:srgbClr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Can summarize, classify, extract, and generate</a:t>
              </a:r>
              <a:endParaRPr lang="en-US" sz="1350" dirty="0"/>
            </a:p>
          </p:txBody>
        </p:sp>
        <p:sp>
          <p:nvSpPr>
            <p:cNvPr id="12" name="Text 9"/>
            <p:cNvSpPr/>
            <p:nvPr/>
          </p:nvSpPr>
          <p:spPr>
            <a:xfrm>
              <a:off x="6362700" y="1724025"/>
              <a:ext cx="2206265" cy="47625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lnSpc>
                  <a:spcPts val="1890"/>
                </a:lnSpc>
                <a:buNone/>
              </a:pPr>
              <a:r>
                <a:rPr lang="en-US" sz="1350" kern="0" spc="-13" dirty="0">
                  <a:solidFill>
                    <a:srgbClr val="000000">
                      <a:alpha val="99000"/>
                    </a:srgbClr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Work via token prediction, not memorization</a:t>
              </a:r>
              <a:endParaRPr lang="en-US" sz="1350" dirty="0"/>
            </a:p>
          </p:txBody>
        </p:sp>
        <p:sp>
          <p:nvSpPr>
            <p:cNvPr id="14" name="Text 11"/>
            <p:cNvSpPr/>
            <p:nvPr/>
          </p:nvSpPr>
          <p:spPr>
            <a:xfrm>
              <a:off x="6362700" y="2819792"/>
              <a:ext cx="2100264" cy="238125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lnSpc>
                  <a:spcPts val="1890"/>
                </a:lnSpc>
                <a:buNone/>
              </a:pPr>
              <a:r>
                <a:rPr lang="en-US" sz="1350" kern="0" spc="-13" dirty="0">
                  <a:solidFill>
                    <a:srgbClr val="000000">
                      <a:alpha val="99000"/>
                    </a:srgbClr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Used via APIs or code</a:t>
              </a:r>
              <a:endParaRPr lang="en-US" sz="1350" dirty="0"/>
            </a:p>
          </p:txBody>
        </p:sp>
        <p:sp>
          <p:nvSpPr>
            <p:cNvPr id="16" name="Text 13"/>
            <p:cNvSpPr/>
            <p:nvPr/>
          </p:nvSpPr>
          <p:spPr>
            <a:xfrm>
              <a:off x="6362700" y="3888360"/>
              <a:ext cx="2206265" cy="47625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lnSpc>
                  <a:spcPts val="1890"/>
                </a:lnSpc>
                <a:buNone/>
              </a:pPr>
              <a:r>
                <a:rPr lang="en-US" sz="1350" kern="0" spc="-13" dirty="0">
                  <a:solidFill>
                    <a:srgbClr val="000000">
                      <a:alpha val="99000"/>
                    </a:srgbClr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Not perfect, but powerful and improving</a:t>
              </a:r>
              <a:endParaRPr lang="en-US" sz="1350" dirty="0"/>
            </a:p>
          </p:txBody>
        </p:sp>
        <p:sp>
          <p:nvSpPr>
            <p:cNvPr id="18" name="Shape 14"/>
            <p:cNvSpPr/>
            <p:nvPr/>
          </p:nvSpPr>
          <p:spPr>
            <a:xfrm>
              <a:off x="4243388" y="3481388"/>
              <a:ext cx="190500" cy="190500"/>
            </a:xfrm>
            <a:prstGeom prst="ellipse">
              <a:avLst/>
            </a:prstGeom>
            <a:solidFill>
              <a:srgbClr val="0070F3"/>
            </a:solidFill>
            <a:ln/>
          </p:spPr>
        </p:sp>
        <p:sp>
          <p:nvSpPr>
            <p:cNvPr id="19" name="Shape 15"/>
            <p:cNvSpPr/>
            <p:nvPr/>
          </p:nvSpPr>
          <p:spPr>
            <a:xfrm>
              <a:off x="4243388" y="2381250"/>
              <a:ext cx="190500" cy="190500"/>
            </a:xfrm>
            <a:prstGeom prst="ellipse">
              <a:avLst/>
            </a:prstGeom>
            <a:solidFill>
              <a:srgbClr val="0070F3"/>
            </a:solidFill>
            <a:ln/>
          </p:spPr>
        </p:sp>
        <p:sp>
          <p:nvSpPr>
            <p:cNvPr id="20" name="Shape 16"/>
            <p:cNvSpPr/>
            <p:nvPr/>
          </p:nvSpPr>
          <p:spPr>
            <a:xfrm>
              <a:off x="7038975" y="3481388"/>
              <a:ext cx="190500" cy="190500"/>
            </a:xfrm>
            <a:prstGeom prst="ellipse">
              <a:avLst/>
            </a:prstGeom>
            <a:solidFill>
              <a:srgbClr val="0070F3"/>
            </a:solidFill>
            <a:ln/>
          </p:spPr>
        </p:sp>
        <p:sp>
          <p:nvSpPr>
            <p:cNvPr id="21" name="Shape 17"/>
            <p:cNvSpPr/>
            <p:nvPr/>
          </p:nvSpPr>
          <p:spPr>
            <a:xfrm>
              <a:off x="7038975" y="2476500"/>
              <a:ext cx="190500" cy="190500"/>
            </a:xfrm>
            <a:prstGeom prst="ellipse">
              <a:avLst/>
            </a:prstGeom>
            <a:solidFill>
              <a:srgbClr val="0070F3"/>
            </a:solidFill>
            <a:ln/>
          </p:spPr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010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-36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LLMs Power Text Analysis</a:t>
            </a:r>
            <a:endParaRPr lang="en-US" sz="1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7038" y="609600"/>
            <a:ext cx="1595438" cy="148113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90562" y="2703433"/>
            <a:ext cx="7920038" cy="1219200"/>
          </a:xfrm>
          <a:prstGeom prst="rect">
            <a:avLst/>
          </a:prstGeom>
          <a:noFill/>
          <a:ln/>
        </p:spPr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A015B8E-1937-DF0B-39AA-7C23C563F93C}"/>
              </a:ext>
            </a:extLst>
          </p:cNvPr>
          <p:cNvGrpSpPr/>
          <p:nvPr/>
        </p:nvGrpSpPr>
        <p:grpSpPr>
          <a:xfrm>
            <a:off x="643600" y="2581986"/>
            <a:ext cx="1962680" cy="1624013"/>
            <a:chOff x="398329" y="2574130"/>
            <a:chExt cx="1962680" cy="1624013"/>
          </a:xfrm>
        </p:grpSpPr>
        <p:sp>
          <p:nvSpPr>
            <p:cNvPr id="5" name="Shape 2"/>
            <p:cNvSpPr/>
            <p:nvPr/>
          </p:nvSpPr>
          <p:spPr>
            <a:xfrm>
              <a:off x="609600" y="2695575"/>
              <a:ext cx="1751409" cy="1219200"/>
            </a:xfrm>
            <a:prstGeom prst="rect">
              <a:avLst/>
            </a:prstGeom>
            <a:noFill/>
            <a:ln/>
          </p:spPr>
        </p:sp>
        <p:sp>
          <p:nvSpPr>
            <p:cNvPr id="6" name="Text 3"/>
            <p:cNvSpPr/>
            <p:nvPr/>
          </p:nvSpPr>
          <p:spPr>
            <a:xfrm>
              <a:off x="614362" y="3027673"/>
              <a:ext cx="1520858" cy="6858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lnSpc>
                  <a:spcPts val="1782"/>
                </a:lnSpc>
                <a:buNone/>
              </a:pPr>
              <a:r>
                <a:rPr lang="en-US" sz="1350" b="1" kern="0" spc="-27" dirty="0">
                  <a:solidFill>
                    <a:srgbClr val="000000">
                      <a:alpha val="99000"/>
                    </a:srgbClr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Auto-code interviews or survey responses</a:t>
              </a:r>
              <a:endParaRPr lang="en-US" sz="1350" dirty="0"/>
            </a:p>
          </p:txBody>
        </p:sp>
        <p:pic>
          <p:nvPicPr>
            <p:cNvPr id="17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98329" y="2574130"/>
              <a:ext cx="1909762" cy="1624013"/>
            </a:xfrm>
            <a:prstGeom prst="rect">
              <a:avLst/>
            </a:prstGeom>
          </p:spPr>
        </p:pic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15D7C0C-257F-AF99-22AF-16DB59067DFC}"/>
              </a:ext>
            </a:extLst>
          </p:cNvPr>
          <p:cNvGrpSpPr/>
          <p:nvPr/>
        </p:nvGrpSpPr>
        <p:grpSpPr>
          <a:xfrm>
            <a:off x="2788444" y="2560556"/>
            <a:ext cx="1902618" cy="1666875"/>
            <a:chOff x="2514600" y="2552700"/>
            <a:chExt cx="1902618" cy="1666875"/>
          </a:xfrm>
        </p:grpSpPr>
        <p:sp>
          <p:nvSpPr>
            <p:cNvPr id="8" name="Shape 5"/>
            <p:cNvSpPr/>
            <p:nvPr/>
          </p:nvSpPr>
          <p:spPr>
            <a:xfrm>
              <a:off x="2665809" y="2695575"/>
              <a:ext cx="1751409" cy="1219200"/>
            </a:xfrm>
            <a:prstGeom prst="rect">
              <a:avLst/>
            </a:prstGeom>
            <a:noFill/>
            <a:ln/>
          </p:spPr>
        </p:sp>
        <p:sp>
          <p:nvSpPr>
            <p:cNvPr id="9" name="Text 6"/>
            <p:cNvSpPr/>
            <p:nvPr/>
          </p:nvSpPr>
          <p:spPr>
            <a:xfrm>
              <a:off x="2741745" y="3031332"/>
              <a:ext cx="1581677" cy="6858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lnSpc>
                  <a:spcPts val="1782"/>
                </a:lnSpc>
                <a:buNone/>
              </a:pPr>
              <a:r>
                <a:rPr lang="en-US" sz="1350" b="1" kern="0" spc="-27" dirty="0">
                  <a:solidFill>
                    <a:srgbClr val="000000">
                      <a:alpha val="99000"/>
                    </a:srgbClr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Summarize long documents for policymaking</a:t>
              </a:r>
              <a:endParaRPr lang="en-US" sz="1350" dirty="0"/>
            </a:p>
          </p:txBody>
        </p:sp>
        <p:pic>
          <p:nvPicPr>
            <p:cNvPr id="18" name="Image 2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514600" y="2552700"/>
              <a:ext cx="1814513" cy="1666875"/>
            </a:xfrm>
            <a:prstGeom prst="rect">
              <a:avLst/>
            </a:prstGeom>
          </p:spPr>
        </p:pic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2B51270-73EC-F028-3E72-1C2E1A84DC72}"/>
              </a:ext>
            </a:extLst>
          </p:cNvPr>
          <p:cNvGrpSpPr/>
          <p:nvPr/>
        </p:nvGrpSpPr>
        <p:grpSpPr>
          <a:xfrm>
            <a:off x="4785121" y="2579608"/>
            <a:ext cx="1814513" cy="1666875"/>
            <a:chOff x="4628489" y="2571750"/>
            <a:chExt cx="1814513" cy="1666875"/>
          </a:xfrm>
        </p:grpSpPr>
        <p:sp>
          <p:nvSpPr>
            <p:cNvPr id="12" name="Text 9"/>
            <p:cNvSpPr/>
            <p:nvPr/>
          </p:nvSpPr>
          <p:spPr>
            <a:xfrm>
              <a:off x="4704159" y="3048000"/>
              <a:ext cx="1668361" cy="6858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lnSpc>
                  <a:spcPts val="1782"/>
                </a:lnSpc>
                <a:buNone/>
              </a:pPr>
              <a:r>
                <a:rPr lang="en-US" sz="1350" b="1" kern="0" spc="-27" dirty="0">
                  <a:solidFill>
                    <a:srgbClr val="000000">
                      <a:alpha val="99000"/>
                    </a:srgbClr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Detect sentiment shifts across large datasets</a:t>
              </a:r>
              <a:endParaRPr lang="en-US" sz="1350" dirty="0"/>
            </a:p>
          </p:txBody>
        </p:sp>
        <p:pic>
          <p:nvPicPr>
            <p:cNvPr id="19" name="Image 3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628489" y="2571750"/>
              <a:ext cx="1814513" cy="1666875"/>
            </a:xfrm>
            <a:prstGeom prst="rect">
              <a:avLst/>
            </a:prstGeom>
          </p:spPr>
        </p:pic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B33F16D-895F-47D6-121D-75EC42D99194}"/>
              </a:ext>
            </a:extLst>
          </p:cNvPr>
          <p:cNvGrpSpPr/>
          <p:nvPr/>
        </p:nvGrpSpPr>
        <p:grpSpPr>
          <a:xfrm>
            <a:off x="6753225" y="2565321"/>
            <a:ext cx="1814513" cy="1666875"/>
            <a:chOff x="6672263" y="2557463"/>
            <a:chExt cx="1814513" cy="1666875"/>
          </a:xfrm>
        </p:grpSpPr>
        <p:sp>
          <p:nvSpPr>
            <p:cNvPr id="15" name="Text 12"/>
            <p:cNvSpPr/>
            <p:nvPr/>
          </p:nvSpPr>
          <p:spPr>
            <a:xfrm>
              <a:off x="6777038" y="3000375"/>
              <a:ext cx="1708548" cy="6858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lnSpc>
                  <a:spcPts val="1782"/>
                </a:lnSpc>
                <a:buNone/>
              </a:pPr>
              <a:r>
                <a:rPr lang="en-US" sz="1350" b="1" kern="0" spc="-27" dirty="0">
                  <a:solidFill>
                    <a:srgbClr val="000000">
                      <a:alpha val="99000"/>
                    </a:srgbClr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Classify thousands of news articles in minutes</a:t>
              </a:r>
              <a:endParaRPr lang="en-US" sz="1350" dirty="0"/>
            </a:p>
          </p:txBody>
        </p:sp>
        <p:pic>
          <p:nvPicPr>
            <p:cNvPr id="20" name="Image 4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672263" y="2557463"/>
              <a:ext cx="1814513" cy="1666875"/>
            </a:xfrm>
            <a:prstGeom prst="rect">
              <a:avLst/>
            </a:prstGeom>
          </p:spPr>
        </p:pic>
      </p:grpSp>
      <p:sp>
        <p:nvSpPr>
          <p:cNvPr id="21" name="Shape 14"/>
          <p:cNvSpPr/>
          <p:nvPr/>
        </p:nvSpPr>
        <p:spPr>
          <a:xfrm rot="-11302">
            <a:off x="595313" y="1133475"/>
            <a:ext cx="2814653" cy="0"/>
          </a:xfrm>
          <a:prstGeom prst="line">
            <a:avLst/>
          </a:prstGeom>
          <a:solidFill>
            <a:srgbClr val="CFCFCF"/>
          </a:solidFill>
          <a:ln w="50800">
            <a:solidFill>
              <a:srgbClr val="000000">
                <a:alpha val="5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452688" y="4333875"/>
            <a:ext cx="469582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782"/>
              </a:lnSpc>
              <a:buNone/>
            </a:pPr>
            <a:r>
              <a:rPr lang="en-US" sz="1350" b="1" kern="0" spc="-27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LLM Timeline</a:t>
            </a:r>
            <a:endParaRPr lang="en-US" sz="13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975" y="1047750"/>
            <a:ext cx="8524875" cy="28384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A50EF579-6FF7-3633-E2EE-436B07F68E07}"/>
              </a:ext>
            </a:extLst>
          </p:cNvPr>
          <p:cNvGrpSpPr/>
          <p:nvPr/>
        </p:nvGrpSpPr>
        <p:grpSpPr>
          <a:xfrm>
            <a:off x="3390900" y="1724025"/>
            <a:ext cx="2324100" cy="1914525"/>
            <a:chOff x="3390900" y="1724025"/>
            <a:chExt cx="2324100" cy="1914525"/>
          </a:xfrm>
        </p:grpSpPr>
        <p:sp>
          <p:nvSpPr>
            <p:cNvPr id="2" name="Shape 0"/>
            <p:cNvSpPr/>
            <p:nvPr/>
          </p:nvSpPr>
          <p:spPr>
            <a:xfrm>
              <a:off x="3390900" y="1724025"/>
              <a:ext cx="2324100" cy="838200"/>
            </a:xfrm>
            <a:prstGeom prst="rect">
              <a:avLst/>
            </a:prstGeom>
            <a:noFill/>
            <a:ln/>
          </p:spPr>
        </p:sp>
        <p:sp>
          <p:nvSpPr>
            <p:cNvPr id="3" name="Text 1"/>
            <p:cNvSpPr/>
            <p:nvPr/>
          </p:nvSpPr>
          <p:spPr>
            <a:xfrm>
              <a:off x="3390900" y="1724025"/>
              <a:ext cx="23220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lnSpc>
                  <a:spcPts val="1782"/>
                </a:lnSpc>
                <a:buNone/>
              </a:pPr>
              <a:r>
                <a:rPr lang="en-US" sz="1350" b="1" kern="0" spc="-27" dirty="0">
                  <a:solidFill>
                    <a:srgbClr val="000000">
                      <a:alpha val="99000"/>
                    </a:srgbClr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📚 Trained on billions of words</a:t>
              </a:r>
              <a:endParaRPr lang="en-US" sz="1350" dirty="0"/>
            </a:p>
          </p:txBody>
        </p:sp>
        <p:sp>
          <p:nvSpPr>
            <p:cNvPr id="4" name="Text 2"/>
            <p:cNvSpPr/>
            <p:nvPr/>
          </p:nvSpPr>
          <p:spPr>
            <a:xfrm>
              <a:off x="3390900" y="2257425"/>
              <a:ext cx="2322000" cy="3048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lnSpc>
                  <a:spcPts val="1206"/>
                </a:lnSpc>
                <a:buNone/>
              </a:pPr>
              <a:r>
                <a:rPr lang="en-US" sz="1200" kern="0" spc="-5" dirty="0">
                  <a:solidFill>
                    <a:srgbClr val="000000">
                      <a:alpha val="99000"/>
                    </a:srgbClr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Ingests books, articles, websites — huge corpus</a:t>
              </a:r>
              <a:endParaRPr lang="en-US" sz="1200" dirty="0"/>
            </a:p>
          </p:txBody>
        </p:sp>
        <p:sp>
          <p:nvSpPr>
            <p:cNvPr id="5" name="Shape 3"/>
            <p:cNvSpPr/>
            <p:nvPr/>
          </p:nvSpPr>
          <p:spPr>
            <a:xfrm>
              <a:off x="3390900" y="2800350"/>
              <a:ext cx="2324100" cy="838200"/>
            </a:xfrm>
            <a:prstGeom prst="rect">
              <a:avLst/>
            </a:prstGeom>
            <a:noFill/>
            <a:ln/>
          </p:spPr>
        </p:sp>
        <p:sp>
          <p:nvSpPr>
            <p:cNvPr id="6" name="Text 4"/>
            <p:cNvSpPr/>
            <p:nvPr/>
          </p:nvSpPr>
          <p:spPr>
            <a:xfrm>
              <a:off x="3390900" y="2800350"/>
              <a:ext cx="23220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lnSpc>
                  <a:spcPts val="1782"/>
                </a:lnSpc>
                <a:buNone/>
              </a:pPr>
              <a:r>
                <a:rPr lang="en-US" sz="1350" b="1" kern="0" spc="-27" dirty="0">
                  <a:solidFill>
                    <a:srgbClr val="000000">
                      <a:alpha val="99000"/>
                    </a:srgbClr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🧠 Uses transformer architecture</a:t>
              </a:r>
              <a:endParaRPr lang="en-US" sz="1350" dirty="0"/>
            </a:p>
          </p:txBody>
        </p:sp>
        <p:sp>
          <p:nvSpPr>
            <p:cNvPr id="7" name="Text 5"/>
            <p:cNvSpPr/>
            <p:nvPr/>
          </p:nvSpPr>
          <p:spPr>
            <a:xfrm>
              <a:off x="3390900" y="3333750"/>
              <a:ext cx="2322000" cy="3048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lnSpc>
                  <a:spcPts val="1206"/>
                </a:lnSpc>
                <a:buNone/>
              </a:pPr>
              <a:r>
                <a:rPr lang="en-US" sz="1200" kern="0" spc="-5" dirty="0">
                  <a:solidFill>
                    <a:srgbClr val="000000">
                      <a:alpha val="99000"/>
                    </a:srgbClr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“Attention” lets model focus on relevant input</a:t>
              </a:r>
              <a:endParaRPr lang="en-US" sz="1200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FBEC6A7-0BBA-7B03-B4F2-6425F2157B5D}"/>
              </a:ext>
            </a:extLst>
          </p:cNvPr>
          <p:cNvGrpSpPr/>
          <p:nvPr/>
        </p:nvGrpSpPr>
        <p:grpSpPr>
          <a:xfrm>
            <a:off x="5846338" y="1785938"/>
            <a:ext cx="2324100" cy="1852612"/>
            <a:chOff x="5846338" y="1785938"/>
            <a:chExt cx="2324100" cy="1852612"/>
          </a:xfrm>
        </p:grpSpPr>
        <p:sp>
          <p:nvSpPr>
            <p:cNvPr id="8" name="Shape 6"/>
            <p:cNvSpPr/>
            <p:nvPr/>
          </p:nvSpPr>
          <p:spPr>
            <a:xfrm>
              <a:off x="5846338" y="1785938"/>
              <a:ext cx="2324100" cy="685800"/>
            </a:xfrm>
            <a:prstGeom prst="rect">
              <a:avLst/>
            </a:prstGeom>
            <a:noFill/>
            <a:ln/>
          </p:spPr>
        </p:sp>
        <p:sp>
          <p:nvSpPr>
            <p:cNvPr id="9" name="Text 7"/>
            <p:cNvSpPr/>
            <p:nvPr/>
          </p:nvSpPr>
          <p:spPr>
            <a:xfrm>
              <a:off x="5846338" y="1785938"/>
              <a:ext cx="23220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lnSpc>
                  <a:spcPts val="1782"/>
                </a:lnSpc>
                <a:buNone/>
              </a:pPr>
              <a:r>
                <a:rPr lang="en-US" sz="1350" b="1" kern="0" spc="-27" dirty="0">
                  <a:solidFill>
                    <a:srgbClr val="000000">
                      <a:alpha val="99000"/>
                    </a:srgbClr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📚 Predicts tokens, not retrieves facts</a:t>
              </a:r>
              <a:endParaRPr lang="en-US" sz="135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5846338" y="2319338"/>
              <a:ext cx="2322000" cy="1524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lnSpc>
                  <a:spcPts val="1206"/>
                </a:lnSpc>
                <a:buNone/>
              </a:pPr>
              <a:r>
                <a:rPr lang="en-US" sz="1200" kern="0" spc="-5" dirty="0">
                  <a:solidFill>
                    <a:srgbClr val="000000">
                      <a:alpha val="99000"/>
                    </a:srgbClr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Generates next word based on probability</a:t>
              </a:r>
              <a:endParaRPr lang="en-US" sz="12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5846338" y="2800350"/>
              <a:ext cx="2324100" cy="838200"/>
            </a:xfrm>
            <a:prstGeom prst="rect">
              <a:avLst/>
            </a:prstGeom>
            <a:noFill/>
            <a:ln/>
          </p:spPr>
        </p:sp>
        <p:sp>
          <p:nvSpPr>
            <p:cNvPr id="12" name="Text 10"/>
            <p:cNvSpPr/>
            <p:nvPr/>
          </p:nvSpPr>
          <p:spPr>
            <a:xfrm>
              <a:off x="5846338" y="2800350"/>
              <a:ext cx="23220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lnSpc>
                  <a:spcPts val="1782"/>
                </a:lnSpc>
                <a:buNone/>
              </a:pPr>
              <a:r>
                <a:rPr lang="en-US" sz="1350" b="1" kern="0" spc="-27" dirty="0">
                  <a:solidFill>
                    <a:srgbClr val="000000">
                      <a:alpha val="99000"/>
                    </a:srgbClr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🧾 Understands context in chunks (context window)</a:t>
              </a:r>
              <a:endParaRPr lang="en-US" sz="135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5846338" y="3333750"/>
              <a:ext cx="2322000" cy="3048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lnSpc>
                  <a:spcPts val="1206"/>
                </a:lnSpc>
                <a:buNone/>
              </a:pPr>
              <a:r>
                <a:rPr lang="en-US" sz="1200" kern="0" spc="-5" dirty="0">
                  <a:solidFill>
                    <a:srgbClr val="000000">
                      <a:alpha val="99000"/>
                    </a:srgbClr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But not global memory — limited to recent input</a:t>
              </a:r>
              <a:endParaRPr lang="en-US" sz="1200" dirty="0"/>
            </a:p>
          </p:txBody>
        </p:sp>
      </p:grp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5151" y="1450044"/>
            <a:ext cx="5219700" cy="2690813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819150" y="2062163"/>
            <a:ext cx="2286000" cy="733697"/>
          </a:xfrm>
          <a:prstGeom prst="rect">
            <a:avLst/>
          </a:prstGeom>
          <a:noFill/>
          <a:ln/>
        </p:spPr>
      </p:sp>
      <p:sp>
        <p:nvSpPr>
          <p:cNvPr id="16" name="Text 13"/>
          <p:cNvSpPr/>
          <p:nvPr/>
        </p:nvSpPr>
        <p:spPr>
          <a:xfrm>
            <a:off x="766320" y="2074241"/>
            <a:ext cx="2336731" cy="552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-36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Do LLMs Actually Work?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 rot="583">
            <a:off x="819150" y="2795626"/>
            <a:ext cx="2056025" cy="59"/>
          </a:xfrm>
          <a:prstGeom prst="line">
            <a:avLst/>
          </a:prstGeom>
          <a:solidFill>
            <a:srgbClr val="0047AB"/>
          </a:solidFill>
          <a:ln w="50800">
            <a:solidFill>
              <a:srgbClr val="0070F3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23875" y="857250"/>
            <a:ext cx="80010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-36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Principles</a:t>
            </a:r>
            <a:endParaRPr lang="en-US" sz="1800" dirty="0"/>
          </a:p>
        </p:txBody>
      </p:sp>
      <p:sp>
        <p:nvSpPr>
          <p:cNvPr id="4" name="Shape 1"/>
          <p:cNvSpPr/>
          <p:nvPr/>
        </p:nvSpPr>
        <p:spPr>
          <a:xfrm>
            <a:off x="519113" y="1590675"/>
            <a:ext cx="2438400" cy="2951999"/>
          </a:xfrm>
          <a:prstGeom prst="roundRect">
            <a:avLst>
              <a:gd name="adj" fmla="val 6000"/>
            </a:avLst>
          </a:prstGeom>
          <a:solidFill>
            <a:srgbClr val="0070F3"/>
          </a:solidFill>
          <a:ln/>
        </p:spPr>
      </p:sp>
      <p:sp>
        <p:nvSpPr>
          <p:cNvPr id="5" name="Text 2"/>
          <p:cNvSpPr/>
          <p:nvPr/>
        </p:nvSpPr>
        <p:spPr>
          <a:xfrm>
            <a:off x="747713" y="1781175"/>
            <a:ext cx="2465387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-36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Self-Attention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47713" y="3371099"/>
            <a:ext cx="2071688" cy="11715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kern="0" spc="-13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idea: understand word relevance across a sequence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3424238" y="1590675"/>
            <a:ext cx="2438400" cy="2951999"/>
          </a:xfrm>
          <a:prstGeom prst="roundRect">
            <a:avLst>
              <a:gd name="adj" fmla="val 6000"/>
            </a:avLst>
          </a:prstGeom>
          <a:solidFill>
            <a:srgbClr val="CFCFCF"/>
          </a:solidFill>
          <a:ln/>
        </p:spPr>
      </p:sp>
      <p:sp>
        <p:nvSpPr>
          <p:cNvPr id="8" name="Text 5"/>
          <p:cNvSpPr/>
          <p:nvPr/>
        </p:nvSpPr>
        <p:spPr>
          <a:xfrm>
            <a:off x="3652838" y="1781175"/>
            <a:ext cx="2465387" cy="552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-36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Positional Encoding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3757801" y="3634474"/>
            <a:ext cx="2022098" cy="4762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kern="0" spc="-13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Inject structure into unordered tokens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324600" y="1590675"/>
            <a:ext cx="2438400" cy="2951999"/>
          </a:xfrm>
          <a:prstGeom prst="roundRect">
            <a:avLst>
              <a:gd name="adj" fmla="val 6000"/>
            </a:avLst>
          </a:prstGeom>
          <a:solidFill>
            <a:srgbClr val="0070F3"/>
          </a:solidFill>
          <a:ln/>
        </p:spPr>
      </p:sp>
      <p:sp>
        <p:nvSpPr>
          <p:cNvPr id="11" name="Text 8"/>
          <p:cNvSpPr/>
          <p:nvPr/>
        </p:nvSpPr>
        <p:spPr>
          <a:xfrm>
            <a:off x="6553200" y="1781175"/>
            <a:ext cx="2465387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-36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Transformer Block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553200" y="3490912"/>
            <a:ext cx="2066925" cy="952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kern="0" spc="-13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Composed of dense layers + normalization + residual paths, and stacked deep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 rot="583">
            <a:off x="523875" y="1271588"/>
            <a:ext cx="8096250" cy="0"/>
          </a:xfrm>
          <a:prstGeom prst="line">
            <a:avLst/>
          </a:prstGeom>
          <a:solidFill>
            <a:srgbClr val="0047AB"/>
          </a:solidFill>
          <a:ln w="50800">
            <a:solidFill>
              <a:srgbClr val="990000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5530" y="241161"/>
            <a:ext cx="80010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-36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Major Types of LLM Models</a:t>
            </a:r>
            <a:endParaRPr lang="en-US" sz="1800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2452F1F-EC62-B548-049E-792C3D6AB665}"/>
              </a:ext>
            </a:extLst>
          </p:cNvPr>
          <p:cNvGrpSpPr/>
          <p:nvPr/>
        </p:nvGrpSpPr>
        <p:grpSpPr>
          <a:xfrm>
            <a:off x="470544" y="1190625"/>
            <a:ext cx="2647951" cy="3258000"/>
            <a:chOff x="278499" y="1190625"/>
            <a:chExt cx="2647951" cy="3258000"/>
          </a:xfrm>
        </p:grpSpPr>
        <p:sp>
          <p:nvSpPr>
            <p:cNvPr id="7" name="Text 5"/>
            <p:cNvSpPr/>
            <p:nvPr/>
          </p:nvSpPr>
          <p:spPr>
            <a:xfrm>
              <a:off x="345531" y="1266817"/>
              <a:ext cx="2359428" cy="276225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lnSpc>
                  <a:spcPts val="2160"/>
                </a:lnSpc>
                <a:buNone/>
              </a:pPr>
              <a:r>
                <a:rPr lang="en-US" sz="1800" b="1" kern="0" spc="-36" dirty="0">
                  <a:solidFill>
                    <a:srgbClr val="000000">
                      <a:alpha val="99000"/>
                    </a:srgbClr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Encoder-only</a:t>
              </a:r>
              <a:endParaRPr lang="en-US" sz="1800" dirty="0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2858B822-32DB-9367-6C3C-AA794F43D661}"/>
                </a:ext>
              </a:extLst>
            </p:cNvPr>
            <p:cNvGrpSpPr/>
            <p:nvPr/>
          </p:nvGrpSpPr>
          <p:grpSpPr>
            <a:xfrm>
              <a:off x="278499" y="1190625"/>
              <a:ext cx="2647951" cy="3258000"/>
              <a:chOff x="228600" y="1016352"/>
              <a:chExt cx="2647951" cy="3258000"/>
            </a:xfrm>
          </p:grpSpPr>
          <p:sp>
            <p:nvSpPr>
              <p:cNvPr id="6" name="Shape 4"/>
              <p:cNvSpPr/>
              <p:nvPr/>
            </p:nvSpPr>
            <p:spPr>
              <a:xfrm>
                <a:off x="433388" y="1128713"/>
                <a:ext cx="2443163" cy="2743200"/>
              </a:xfrm>
              <a:prstGeom prst="rect">
                <a:avLst/>
              </a:prstGeom>
              <a:noFill/>
              <a:ln/>
            </p:spPr>
          </p:sp>
          <p:sp>
            <p:nvSpPr>
              <p:cNvPr id="8" name="Text 6"/>
              <p:cNvSpPr/>
              <p:nvPr/>
            </p:nvSpPr>
            <p:spPr>
              <a:xfrm>
                <a:off x="326383" y="1544376"/>
                <a:ext cx="2340000" cy="234315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l">
                  <a:lnSpc>
                    <a:spcPts val="1530"/>
                  </a:lnSpc>
                  <a:buNone/>
                </a:pPr>
                <a:r>
                  <a:rPr lang="en-US" sz="1125" b="1" kern="0" spc="-11" dirty="0">
                    <a:solidFill>
                      <a:srgbClr val="000000">
                        <a:alpha val="99000"/>
                      </a:srgbClr>
                    </a:solidFill>
                    <a:latin typeface="Inter" pitchFamily="34" charset="0"/>
                    <a:ea typeface="Inter" pitchFamily="34" charset="-122"/>
                    <a:cs typeface="Inter" pitchFamily="34" charset="-120"/>
                  </a:rPr>
                  <a:t>Goal</a:t>
                </a:r>
                <a:r>
                  <a:rPr lang="en-US" sz="1125" kern="0" spc="-11" dirty="0">
                    <a:solidFill>
                      <a:srgbClr val="000000">
                        <a:alpha val="99000"/>
                      </a:srgbClr>
                    </a:solidFill>
                    <a:latin typeface="Inter" pitchFamily="34" charset="0"/>
                    <a:ea typeface="Inter" pitchFamily="34" charset="-122"/>
                    <a:cs typeface="Inter" pitchFamily="34" charset="-120"/>
                  </a:rPr>
                  <a:t>: Understand input text deeply </a:t>
                </a:r>
                <a:br>
                  <a:rPr lang="en-US" sz="1125" kern="0" spc="-11" dirty="0">
                    <a:solidFill>
                      <a:srgbClr val="000000">
                        <a:alpha val="99000"/>
                      </a:srgbClr>
                    </a:solidFill>
                    <a:latin typeface="Inter" pitchFamily="34" charset="0"/>
                    <a:ea typeface="Inter" pitchFamily="34" charset="-122"/>
                    <a:cs typeface="Inter" pitchFamily="34" charset="-120"/>
                  </a:rPr>
                </a:br>
                <a:r>
                  <a:rPr lang="en-US" sz="1125" b="1" kern="0" spc="-11" dirty="0">
                    <a:solidFill>
                      <a:srgbClr val="000000">
                        <a:alpha val="99000"/>
                      </a:srgbClr>
                    </a:solidFill>
                    <a:latin typeface="Inter" pitchFamily="34" charset="0"/>
                    <a:ea typeface="Inter" pitchFamily="34" charset="-122"/>
                    <a:cs typeface="Inter" pitchFamily="34" charset="-120"/>
                  </a:rPr>
                  <a:t>What it does</a:t>
                </a:r>
                <a:r>
                  <a:rPr lang="en-US" sz="1125" kern="0" spc="-11" dirty="0">
                    <a:solidFill>
                      <a:srgbClr val="000000">
                        <a:alpha val="99000"/>
                      </a:srgbClr>
                    </a:solidFill>
                    <a:latin typeface="Inter" pitchFamily="34" charset="0"/>
                    <a:ea typeface="Inter" pitchFamily="34" charset="-122"/>
                    <a:cs typeface="Inter" pitchFamily="34" charset="-120"/>
                  </a:rPr>
                  <a:t>: Reads the full input and builds a contextual representation </a:t>
                </a:r>
                <a:br>
                  <a:rPr lang="en-US" sz="1125" kern="0" spc="-11" dirty="0">
                    <a:solidFill>
                      <a:srgbClr val="000000">
                        <a:alpha val="99000"/>
                      </a:srgbClr>
                    </a:solidFill>
                    <a:latin typeface="Inter" pitchFamily="34" charset="0"/>
                    <a:ea typeface="Inter" pitchFamily="34" charset="-122"/>
                    <a:cs typeface="Inter" pitchFamily="34" charset="-120"/>
                  </a:rPr>
                </a:br>
                <a:r>
                  <a:rPr lang="en-US" sz="1125" b="1" kern="0" spc="-11" dirty="0">
                    <a:solidFill>
                      <a:srgbClr val="000000">
                        <a:alpha val="99000"/>
                      </a:srgbClr>
                    </a:solidFill>
                    <a:latin typeface="Inter" pitchFamily="34" charset="0"/>
                    <a:ea typeface="Inter" pitchFamily="34" charset="-122"/>
                    <a:cs typeface="Inter" pitchFamily="34" charset="-120"/>
                  </a:rPr>
                  <a:t>Popular examples</a:t>
                </a:r>
                <a:r>
                  <a:rPr lang="en-US" sz="1125" kern="0" spc="-11" dirty="0">
                    <a:solidFill>
                      <a:srgbClr val="000000">
                        <a:alpha val="99000"/>
                      </a:srgbClr>
                    </a:solidFill>
                    <a:latin typeface="Inter" pitchFamily="34" charset="0"/>
                    <a:ea typeface="Inter" pitchFamily="34" charset="-122"/>
                    <a:cs typeface="Inter" pitchFamily="34" charset="-120"/>
                  </a:rPr>
                  <a:t>: BERT, RoBERTa, </a:t>
                </a:r>
                <a:r>
                  <a:rPr lang="en-US" sz="1125" kern="0" spc="-11" dirty="0" err="1">
                    <a:solidFill>
                      <a:srgbClr val="000000">
                        <a:alpha val="99000"/>
                      </a:srgbClr>
                    </a:solidFill>
                    <a:latin typeface="Inter" pitchFamily="34" charset="0"/>
                    <a:ea typeface="Inter" pitchFamily="34" charset="-122"/>
                    <a:cs typeface="Inter" pitchFamily="34" charset="-120"/>
                  </a:rPr>
                  <a:t>DistilBERT</a:t>
                </a:r>
                <a:r>
                  <a:rPr lang="en-US" sz="1125" kern="0" spc="-11" dirty="0">
                    <a:solidFill>
                      <a:srgbClr val="000000">
                        <a:alpha val="99000"/>
                      </a:srgbClr>
                    </a:solidFill>
                    <a:latin typeface="Inter" pitchFamily="34" charset="0"/>
                    <a:ea typeface="Inter" pitchFamily="34" charset="-122"/>
                    <a:cs typeface="Inter" pitchFamily="34" charset="-120"/>
                  </a:rPr>
                  <a:t> </a:t>
                </a:r>
                <a:br>
                  <a:rPr lang="en-US" sz="1125" kern="0" spc="-11" dirty="0">
                    <a:solidFill>
                      <a:srgbClr val="000000">
                        <a:alpha val="99000"/>
                      </a:srgbClr>
                    </a:solidFill>
                    <a:latin typeface="Inter" pitchFamily="34" charset="0"/>
                    <a:ea typeface="Inter" pitchFamily="34" charset="-122"/>
                    <a:cs typeface="Inter" pitchFamily="34" charset="-120"/>
                  </a:rPr>
                </a:br>
                <a:r>
                  <a:rPr lang="en-US" sz="1125" b="1" kern="0" spc="-11" dirty="0">
                    <a:solidFill>
                      <a:srgbClr val="000000">
                        <a:alpha val="99000"/>
                      </a:srgbClr>
                    </a:solidFill>
                    <a:latin typeface="Inter" pitchFamily="34" charset="0"/>
                    <a:ea typeface="Inter" pitchFamily="34" charset="-122"/>
                    <a:cs typeface="Inter" pitchFamily="34" charset="-120"/>
                  </a:rPr>
                  <a:t>Used for:</a:t>
                </a:r>
                <a:endParaRPr lang="en-US" sz="1125" dirty="0"/>
              </a:p>
              <a:p>
                <a:pPr algn="l">
                  <a:lnSpc>
                    <a:spcPts val="1530"/>
                  </a:lnSpc>
                  <a:buSzPct val="100000"/>
                </a:pPr>
                <a:r>
                  <a:rPr lang="en-US" sz="1125" kern="0" spc="-11" dirty="0">
                    <a:solidFill>
                      <a:srgbClr val="000000">
                        <a:alpha val="99000"/>
                      </a:srgbClr>
                    </a:solidFill>
                    <a:latin typeface="Inter" pitchFamily="34" charset="0"/>
                    <a:ea typeface="Inter" pitchFamily="34" charset="-122"/>
                    <a:cs typeface="Inter" pitchFamily="34" charset="-120"/>
                  </a:rPr>
                  <a:t>Text classification</a:t>
                </a:r>
                <a:endParaRPr lang="en-US" sz="1125" dirty="0"/>
              </a:p>
              <a:p>
                <a:pPr algn="l">
                  <a:lnSpc>
                    <a:spcPts val="1530"/>
                  </a:lnSpc>
                  <a:buSzPct val="100000"/>
                </a:pPr>
                <a:r>
                  <a:rPr lang="en-US" sz="1125" kern="0" spc="-11" dirty="0">
                    <a:solidFill>
                      <a:srgbClr val="000000">
                        <a:alpha val="99000"/>
                      </a:srgbClr>
                    </a:solidFill>
                    <a:latin typeface="Inter" pitchFamily="34" charset="0"/>
                    <a:ea typeface="Inter" pitchFamily="34" charset="-122"/>
                    <a:cs typeface="Inter" pitchFamily="34" charset="-120"/>
                  </a:rPr>
                  <a:t>Named Entity Recognition </a:t>
                </a:r>
                <a:endParaRPr lang="en-US" sz="1125" dirty="0"/>
              </a:p>
              <a:p>
                <a:pPr algn="l">
                  <a:lnSpc>
                    <a:spcPts val="1530"/>
                  </a:lnSpc>
                  <a:buSzPct val="100000"/>
                </a:pPr>
                <a:r>
                  <a:rPr lang="en-US" sz="1125" kern="0" spc="-11" dirty="0">
                    <a:solidFill>
                      <a:srgbClr val="000000">
                        <a:alpha val="99000"/>
                      </a:srgbClr>
                    </a:solidFill>
                    <a:latin typeface="Inter" pitchFamily="34" charset="0"/>
                    <a:ea typeface="Inter" pitchFamily="34" charset="-122"/>
                    <a:cs typeface="Inter" pitchFamily="34" charset="-120"/>
                  </a:rPr>
                  <a:t>Sentence similarity </a:t>
                </a:r>
                <a:r>
                  <a:rPr lang="en-US" sz="1125" i="1" kern="0" spc="-11" dirty="0">
                    <a:solidFill>
                      <a:srgbClr val="000000">
                        <a:alpha val="99000"/>
                      </a:srgbClr>
                    </a:solidFill>
                    <a:latin typeface="Inter" pitchFamily="34" charset="0"/>
                    <a:ea typeface="Inter" pitchFamily="34" charset="-122"/>
                    <a:cs typeface="Inter" pitchFamily="34" charset="-120"/>
                  </a:rPr>
                  <a:t>No text generation</a:t>
                </a:r>
                <a:r>
                  <a:rPr lang="en-US" sz="1125" kern="0" spc="-11" dirty="0">
                    <a:solidFill>
                      <a:srgbClr val="000000">
                        <a:alpha val="99000"/>
                      </a:srgbClr>
                    </a:solidFill>
                    <a:latin typeface="Inter" pitchFamily="34" charset="0"/>
                    <a:ea typeface="Inter" pitchFamily="34" charset="-122"/>
                    <a:cs typeface="Inter" pitchFamily="34" charset="-120"/>
                  </a:rPr>
                  <a:t> </a:t>
                </a:r>
                <a:endParaRPr lang="en-US" sz="1125" dirty="0"/>
              </a:p>
            </p:txBody>
          </p:sp>
          <p:pic>
            <p:nvPicPr>
              <p:cNvPr id="9" name="Image 0" descr="preencoded.png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8600" y="1016352"/>
                <a:ext cx="2510185" cy="3258000"/>
              </a:xfrm>
              <a:prstGeom prst="rect">
                <a:avLst/>
              </a:prstGeom>
            </p:spPr>
          </p:pic>
        </p:grpSp>
      </p:grpSp>
      <p:sp>
        <p:nvSpPr>
          <p:cNvPr id="10" name="Shape 7"/>
          <p:cNvSpPr/>
          <p:nvPr/>
        </p:nvSpPr>
        <p:spPr>
          <a:xfrm>
            <a:off x="5729288" y="1190625"/>
            <a:ext cx="3186113" cy="2528888"/>
          </a:xfrm>
          <a:prstGeom prst="rect">
            <a:avLst/>
          </a:prstGeom>
          <a:noFill/>
          <a:ln/>
        </p:spPr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E7513A2-45A1-173D-F1E9-E33658BBD0A3}"/>
              </a:ext>
            </a:extLst>
          </p:cNvPr>
          <p:cNvGrpSpPr/>
          <p:nvPr/>
        </p:nvGrpSpPr>
        <p:grpSpPr>
          <a:xfrm>
            <a:off x="5943601" y="1190625"/>
            <a:ext cx="2599200" cy="3258000"/>
            <a:chOff x="5943601" y="1190625"/>
            <a:chExt cx="2599200" cy="3174600"/>
          </a:xfrm>
        </p:grpSpPr>
        <p:sp>
          <p:nvSpPr>
            <p:cNvPr id="11" name="Text 8"/>
            <p:cNvSpPr/>
            <p:nvPr/>
          </p:nvSpPr>
          <p:spPr>
            <a:xfrm>
              <a:off x="6015035" y="1374423"/>
              <a:ext cx="2340000" cy="276225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lnSpc>
                  <a:spcPts val="2160"/>
                </a:lnSpc>
                <a:buNone/>
              </a:pPr>
              <a:r>
                <a:rPr lang="en-US" sz="1800" b="1" kern="0" spc="-36" dirty="0">
                  <a:solidFill>
                    <a:srgbClr val="000000">
                      <a:alpha val="99000"/>
                    </a:srgbClr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Encoder–Decoder (Seq2Seq)</a:t>
              </a:r>
              <a:endParaRPr lang="en-US" sz="1800" dirty="0"/>
            </a:p>
          </p:txBody>
        </p:sp>
        <p:sp>
          <p:nvSpPr>
            <p:cNvPr id="12" name="Text 9"/>
            <p:cNvSpPr/>
            <p:nvPr/>
          </p:nvSpPr>
          <p:spPr>
            <a:xfrm>
              <a:off x="6058535" y="1660172"/>
              <a:ext cx="2340000" cy="252888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lnSpc>
                  <a:spcPts val="1530"/>
                </a:lnSpc>
                <a:buNone/>
              </a:pPr>
              <a:r>
                <a:rPr lang="en-US" sz="1200" b="1" kern="0" spc="-11" dirty="0">
                  <a:solidFill>
                    <a:srgbClr val="000000">
                      <a:alpha val="99000"/>
                    </a:srgbClr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Goal</a:t>
              </a:r>
              <a:r>
                <a:rPr lang="en-US" sz="1200" kern="0" spc="-11" dirty="0">
                  <a:solidFill>
                    <a:srgbClr val="000000">
                      <a:alpha val="99000"/>
                    </a:srgbClr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: Transform one sequence into another </a:t>
              </a:r>
              <a:br>
                <a:rPr lang="en-US" sz="1200" kern="0" spc="-11" dirty="0">
                  <a:solidFill>
                    <a:srgbClr val="000000">
                      <a:alpha val="99000"/>
                    </a:srgbClr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</a:br>
              <a:r>
                <a:rPr lang="en-US" sz="1200" b="1" kern="0" spc="-11" dirty="0">
                  <a:solidFill>
                    <a:srgbClr val="000000">
                      <a:alpha val="99000"/>
                    </a:srgbClr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What it does:</a:t>
              </a:r>
              <a:r>
                <a:rPr lang="en-US" sz="1200" b="1" dirty="0"/>
                <a:t> </a:t>
              </a:r>
              <a:r>
                <a:rPr lang="en-US" sz="1200" kern="0" spc="-11" dirty="0">
                  <a:solidFill>
                    <a:srgbClr val="000000">
                      <a:alpha val="99000"/>
                    </a:srgbClr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Encoder reads the full input </a:t>
              </a:r>
              <a:endParaRPr lang="en-US" sz="1200" dirty="0"/>
            </a:p>
            <a:p>
              <a:pPr marL="0" indent="0" algn="l">
                <a:lnSpc>
                  <a:spcPts val="1530"/>
                </a:lnSpc>
                <a:buNone/>
              </a:pPr>
              <a:r>
                <a:rPr lang="en-US" sz="1200" kern="0" spc="-11" dirty="0">
                  <a:solidFill>
                    <a:srgbClr val="000000">
                      <a:alpha val="99000"/>
                    </a:srgbClr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Decoder generates output </a:t>
              </a:r>
              <a:br>
                <a:rPr lang="en-US" sz="1200" kern="0" spc="-11" dirty="0">
                  <a:solidFill>
                    <a:srgbClr val="000000">
                      <a:alpha val="99000"/>
                    </a:srgbClr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</a:br>
              <a:r>
                <a:rPr lang="en-US" sz="1200" b="1" kern="0" spc="-11" dirty="0">
                  <a:solidFill>
                    <a:srgbClr val="000000">
                      <a:alpha val="99000"/>
                    </a:srgbClr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Popular examples</a:t>
              </a:r>
              <a:r>
                <a:rPr lang="en-US" sz="1200" kern="0" spc="-11" dirty="0">
                  <a:solidFill>
                    <a:srgbClr val="000000">
                      <a:alpha val="99000"/>
                    </a:srgbClr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: T5, FLAN-T5, BART, mT5 </a:t>
              </a:r>
              <a:br>
                <a:rPr lang="en-US" sz="1200" kern="0" spc="-11" dirty="0">
                  <a:solidFill>
                    <a:srgbClr val="000000">
                      <a:alpha val="99000"/>
                    </a:srgbClr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</a:br>
              <a:r>
                <a:rPr lang="en-US" sz="1200" b="1" kern="0" spc="-11" dirty="0">
                  <a:solidFill>
                    <a:srgbClr val="000000">
                      <a:alpha val="99000"/>
                    </a:srgbClr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Used for:</a:t>
              </a:r>
              <a:endParaRPr lang="en-US" sz="1200" dirty="0"/>
            </a:p>
            <a:p>
              <a:pPr algn="l">
                <a:lnSpc>
                  <a:spcPts val="1530"/>
                </a:lnSpc>
                <a:buSzPct val="100000"/>
              </a:pPr>
              <a:r>
                <a:rPr lang="en-US" sz="1200" kern="0" spc="-11" dirty="0">
                  <a:solidFill>
                    <a:srgbClr val="000000">
                      <a:alpha val="99000"/>
                    </a:srgbClr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Translation</a:t>
              </a:r>
              <a:endParaRPr lang="en-US" sz="1200" dirty="0"/>
            </a:p>
            <a:p>
              <a:pPr algn="l">
                <a:lnSpc>
                  <a:spcPts val="1530"/>
                </a:lnSpc>
                <a:buSzPct val="100000"/>
              </a:pPr>
              <a:r>
                <a:rPr lang="en-US" sz="1200" kern="0" spc="-11" dirty="0">
                  <a:solidFill>
                    <a:srgbClr val="000000">
                      <a:alpha val="99000"/>
                    </a:srgbClr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Text summarization</a:t>
              </a:r>
              <a:endParaRPr lang="en-US" sz="1200" dirty="0"/>
            </a:p>
            <a:p>
              <a:pPr algn="l">
                <a:lnSpc>
                  <a:spcPts val="1530"/>
                </a:lnSpc>
                <a:buSzPct val="100000"/>
              </a:pPr>
              <a:r>
                <a:rPr lang="en-US" sz="1200" kern="0" spc="-11" dirty="0">
                  <a:solidFill>
                    <a:srgbClr val="000000">
                      <a:alpha val="99000"/>
                    </a:srgbClr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Question answering </a:t>
              </a:r>
              <a:r>
                <a:rPr lang="en-US" sz="1200" i="1" kern="0" spc="-11" dirty="0">
                  <a:solidFill>
                    <a:srgbClr val="000000">
                      <a:alpha val="99000"/>
                    </a:srgbClr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 They’re the most flexible, but more complex.</a:t>
              </a:r>
              <a:endParaRPr lang="en-US" sz="1200" dirty="0"/>
            </a:p>
          </p:txBody>
        </p:sp>
        <p:pic>
          <p:nvPicPr>
            <p:cNvPr id="13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43601" y="1190625"/>
              <a:ext cx="2599200" cy="3174600"/>
            </a:xfrm>
            <a:prstGeom prst="rect">
              <a:avLst/>
            </a:prstGeom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1DC90FD-D28C-369F-7EF0-95292DD8754A}"/>
              </a:ext>
            </a:extLst>
          </p:cNvPr>
          <p:cNvGrpSpPr/>
          <p:nvPr/>
        </p:nvGrpSpPr>
        <p:grpSpPr>
          <a:xfrm>
            <a:off x="3175962" y="1191075"/>
            <a:ext cx="2962309" cy="3257550"/>
            <a:chOff x="3024117" y="1190625"/>
            <a:chExt cx="2962309" cy="3257550"/>
          </a:xfrm>
        </p:grpSpPr>
        <p:sp>
          <p:nvSpPr>
            <p:cNvPr id="4" name="Text 2"/>
            <p:cNvSpPr/>
            <p:nvPr/>
          </p:nvSpPr>
          <p:spPr>
            <a:xfrm>
              <a:off x="3052726" y="1251862"/>
              <a:ext cx="2933700" cy="276225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l">
                <a:lnSpc>
                  <a:spcPts val="2160"/>
                </a:lnSpc>
                <a:buNone/>
              </a:pPr>
              <a:r>
                <a:rPr lang="en-US" sz="1800" b="1" kern="0" spc="-36" dirty="0">
                  <a:solidFill>
                    <a:srgbClr val="000000">
                      <a:alpha val="99000"/>
                    </a:srgbClr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Decoder-only</a:t>
              </a:r>
              <a:endParaRPr lang="en-US" sz="1800" dirty="0"/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221E62DB-54C1-F6AE-73C9-24BEBE847735}"/>
                </a:ext>
              </a:extLst>
            </p:cNvPr>
            <p:cNvGrpSpPr/>
            <p:nvPr/>
          </p:nvGrpSpPr>
          <p:grpSpPr>
            <a:xfrm>
              <a:off x="3024117" y="1190625"/>
              <a:ext cx="2600325" cy="3257550"/>
              <a:chOff x="2886075" y="1016794"/>
              <a:chExt cx="2600325" cy="3257550"/>
            </a:xfrm>
          </p:grpSpPr>
          <p:sp>
            <p:nvSpPr>
              <p:cNvPr id="3" name="Shape 1"/>
              <p:cNvSpPr/>
              <p:nvPr/>
            </p:nvSpPr>
            <p:spPr>
              <a:xfrm>
                <a:off x="2947988" y="1128713"/>
                <a:ext cx="2476500" cy="2905125"/>
              </a:xfrm>
              <a:prstGeom prst="rect">
                <a:avLst/>
              </a:prstGeom>
              <a:noFill/>
              <a:ln/>
            </p:spPr>
          </p:sp>
          <p:sp>
            <p:nvSpPr>
              <p:cNvPr id="5" name="Text 3"/>
              <p:cNvSpPr/>
              <p:nvPr/>
            </p:nvSpPr>
            <p:spPr>
              <a:xfrm>
                <a:off x="2947988" y="1495425"/>
                <a:ext cx="2520000" cy="2538413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l">
                  <a:lnSpc>
                    <a:spcPts val="1530"/>
                  </a:lnSpc>
                  <a:buNone/>
                </a:pPr>
                <a:r>
                  <a:rPr lang="en-US" sz="1200" b="1" kern="0" spc="-11" dirty="0">
                    <a:solidFill>
                      <a:srgbClr val="000000">
                        <a:alpha val="99000"/>
                      </a:srgbClr>
                    </a:solidFill>
                    <a:latin typeface="Inter" pitchFamily="34" charset="0"/>
                    <a:ea typeface="Inter" pitchFamily="34" charset="-122"/>
                    <a:cs typeface="Inter" pitchFamily="34" charset="-120"/>
                  </a:rPr>
                  <a:t>Goal</a:t>
                </a:r>
                <a:r>
                  <a:rPr lang="en-US" sz="1200" kern="0" spc="-11" dirty="0">
                    <a:solidFill>
                      <a:srgbClr val="000000">
                        <a:alpha val="99000"/>
                      </a:srgbClr>
                    </a:solidFill>
                    <a:latin typeface="Inter" pitchFamily="34" charset="0"/>
                    <a:ea typeface="Inter" pitchFamily="34" charset="-122"/>
                    <a:cs typeface="Inter" pitchFamily="34" charset="-120"/>
                  </a:rPr>
                  <a:t>: Generate fluent text from left to right </a:t>
                </a:r>
                <a:br>
                  <a:rPr lang="en-US" sz="1200" kern="0" spc="-11" dirty="0">
                    <a:solidFill>
                      <a:srgbClr val="000000">
                        <a:alpha val="99000"/>
                      </a:srgbClr>
                    </a:solidFill>
                    <a:latin typeface="Inter" pitchFamily="34" charset="0"/>
                    <a:ea typeface="Inter" pitchFamily="34" charset="-122"/>
                    <a:cs typeface="Inter" pitchFamily="34" charset="-120"/>
                  </a:rPr>
                </a:br>
                <a:r>
                  <a:rPr lang="en-US" sz="1200" b="1" kern="0" spc="-11" dirty="0">
                    <a:solidFill>
                      <a:srgbClr val="000000">
                        <a:alpha val="99000"/>
                      </a:srgbClr>
                    </a:solidFill>
                    <a:latin typeface="Inter" pitchFamily="34" charset="0"/>
                    <a:ea typeface="Inter" pitchFamily="34" charset="-122"/>
                    <a:cs typeface="Inter" pitchFamily="34" charset="-120"/>
                  </a:rPr>
                  <a:t>What it does</a:t>
                </a:r>
                <a:r>
                  <a:rPr lang="en-US" sz="1200" kern="0" spc="-11" dirty="0">
                    <a:solidFill>
                      <a:srgbClr val="000000">
                        <a:alpha val="99000"/>
                      </a:srgbClr>
                    </a:solidFill>
                    <a:latin typeface="Inter" pitchFamily="34" charset="0"/>
                    <a:ea typeface="Inter" pitchFamily="34" charset="-122"/>
                    <a:cs typeface="Inter" pitchFamily="34" charset="-120"/>
                  </a:rPr>
                  <a:t>: Predicts one token at a time based on previous tokens </a:t>
                </a:r>
                <a:br>
                  <a:rPr lang="en-US" sz="1200" kern="0" spc="-11" dirty="0">
                    <a:solidFill>
                      <a:srgbClr val="000000">
                        <a:alpha val="99000"/>
                      </a:srgbClr>
                    </a:solidFill>
                    <a:latin typeface="Inter" pitchFamily="34" charset="0"/>
                    <a:ea typeface="Inter" pitchFamily="34" charset="-122"/>
                    <a:cs typeface="Inter" pitchFamily="34" charset="-120"/>
                  </a:rPr>
                </a:br>
                <a:r>
                  <a:rPr lang="en-US" sz="1200" b="1" kern="0" spc="-11" dirty="0">
                    <a:solidFill>
                      <a:srgbClr val="000000">
                        <a:alpha val="99000"/>
                      </a:srgbClr>
                    </a:solidFill>
                    <a:latin typeface="Inter" pitchFamily="34" charset="0"/>
                    <a:ea typeface="Inter" pitchFamily="34" charset="-122"/>
                    <a:cs typeface="Inter" pitchFamily="34" charset="-120"/>
                  </a:rPr>
                  <a:t>Popular examples:</a:t>
                </a:r>
                <a:r>
                  <a:rPr lang="en-US" sz="1200" kern="0" spc="-11" dirty="0">
                    <a:solidFill>
                      <a:srgbClr val="000000">
                        <a:alpha val="99000"/>
                      </a:srgbClr>
                    </a:solidFill>
                    <a:latin typeface="Inter" pitchFamily="34" charset="0"/>
                    <a:ea typeface="Inter" pitchFamily="34" charset="-122"/>
                    <a:cs typeface="Inter" pitchFamily="34" charset="-120"/>
                  </a:rPr>
                  <a:t> GPT-2, GPT-3, GPT-4, Claude, Gemini </a:t>
                </a:r>
                <a:br>
                  <a:rPr lang="en-US" sz="1200" kern="0" spc="-11" dirty="0">
                    <a:solidFill>
                      <a:srgbClr val="000000">
                        <a:alpha val="99000"/>
                      </a:srgbClr>
                    </a:solidFill>
                    <a:latin typeface="Inter" pitchFamily="34" charset="0"/>
                    <a:ea typeface="Inter" pitchFamily="34" charset="-122"/>
                    <a:cs typeface="Inter" pitchFamily="34" charset="-120"/>
                  </a:rPr>
                </a:br>
                <a:r>
                  <a:rPr lang="en-US" sz="1200" b="1" kern="0" spc="-11" dirty="0">
                    <a:solidFill>
                      <a:srgbClr val="000000">
                        <a:alpha val="99000"/>
                      </a:srgbClr>
                    </a:solidFill>
                    <a:latin typeface="Inter" pitchFamily="34" charset="0"/>
                    <a:ea typeface="Inter" pitchFamily="34" charset="-122"/>
                    <a:cs typeface="Inter" pitchFamily="34" charset="-120"/>
                  </a:rPr>
                  <a:t>Used for:</a:t>
                </a:r>
                <a:endParaRPr lang="en-US" sz="1200" dirty="0"/>
              </a:p>
              <a:p>
                <a:pPr algn="l">
                  <a:lnSpc>
                    <a:spcPts val="1530"/>
                  </a:lnSpc>
                  <a:buSzPct val="100000"/>
                </a:pPr>
                <a:r>
                  <a:rPr lang="en-US" sz="1200" kern="0" spc="-11" dirty="0">
                    <a:solidFill>
                      <a:srgbClr val="000000">
                        <a:alpha val="99000"/>
                      </a:srgbClr>
                    </a:solidFill>
                    <a:latin typeface="Inter" pitchFamily="34" charset="0"/>
                    <a:ea typeface="Inter" pitchFamily="34" charset="-122"/>
                    <a:cs typeface="Inter" pitchFamily="34" charset="-120"/>
                  </a:rPr>
                  <a:t>Chatbots</a:t>
                </a:r>
                <a:endParaRPr lang="en-US" sz="1200" dirty="0"/>
              </a:p>
              <a:p>
                <a:pPr algn="l">
                  <a:lnSpc>
                    <a:spcPts val="1530"/>
                  </a:lnSpc>
                  <a:buSzPct val="100000"/>
                </a:pPr>
                <a:r>
                  <a:rPr lang="en-US" sz="1200" kern="0" spc="-11" dirty="0">
                    <a:solidFill>
                      <a:srgbClr val="000000">
                        <a:alpha val="99000"/>
                      </a:srgbClr>
                    </a:solidFill>
                    <a:latin typeface="Inter" pitchFamily="34" charset="0"/>
                    <a:ea typeface="Inter" pitchFamily="34" charset="-122"/>
                    <a:cs typeface="Inter" pitchFamily="34" charset="-120"/>
                  </a:rPr>
                  <a:t>Text generation</a:t>
                </a:r>
                <a:endParaRPr lang="en-US" sz="1200" dirty="0"/>
              </a:p>
              <a:p>
                <a:pPr algn="l">
                  <a:lnSpc>
                    <a:spcPts val="1530"/>
                  </a:lnSpc>
                  <a:buSzPct val="100000"/>
                </a:pPr>
                <a:r>
                  <a:rPr lang="en-US" sz="1200" kern="0" spc="-11" dirty="0">
                    <a:solidFill>
                      <a:srgbClr val="000000">
                        <a:alpha val="99000"/>
                      </a:srgbClr>
                    </a:solidFill>
                    <a:latin typeface="Inter" pitchFamily="34" charset="0"/>
                    <a:ea typeface="Inter" pitchFamily="34" charset="-122"/>
                    <a:cs typeface="Inter" pitchFamily="34" charset="-120"/>
                  </a:rPr>
                  <a:t>Summarization  </a:t>
                </a:r>
                <a:r>
                  <a:rPr lang="en-US" sz="1200" i="1" kern="0" spc="-11" dirty="0">
                    <a:solidFill>
                      <a:srgbClr val="000000">
                        <a:alpha val="99000"/>
                      </a:srgbClr>
                    </a:solidFill>
                    <a:latin typeface="Inter" pitchFamily="34" charset="0"/>
                    <a:ea typeface="Inter" pitchFamily="34" charset="-122"/>
                    <a:cs typeface="Inter" pitchFamily="34" charset="-120"/>
                  </a:rPr>
                  <a:t>These models don’t "see" the entire input at once — they build it as they go.</a:t>
                </a:r>
                <a:endParaRPr lang="en-US" sz="1200" dirty="0"/>
              </a:p>
            </p:txBody>
          </p:sp>
          <p:pic>
            <p:nvPicPr>
              <p:cNvPr id="14" name="Image 2" descr="preencoded.png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886075" y="1016794"/>
                <a:ext cx="2600325" cy="3257550"/>
              </a:xfrm>
              <a:prstGeom prst="rect">
                <a:avLst/>
              </a:prstGeom>
            </p:spPr>
          </p:pic>
        </p:grp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2175" y="490538"/>
            <a:ext cx="5572125" cy="4381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-579356" y="4247021"/>
            <a:ext cx="4695825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2160"/>
              </a:lnSpc>
              <a:buNone/>
            </a:pPr>
            <a:r>
              <a:rPr lang="en-US" sz="1800" b="1" kern="0" spc="-36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Major Types of LLM Models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252538" y="2571750"/>
            <a:ext cx="1824038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-36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📝  Text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1252538" y="2847975"/>
            <a:ext cx="1824038" cy="3905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530"/>
              </a:lnSpc>
              <a:buNone/>
            </a:pPr>
            <a:r>
              <a:rPr lang="en-US" sz="1125" kern="0" spc="-11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Natural Language input/output</a:t>
            </a:r>
            <a:endParaRPr lang="en-US" sz="1125" dirty="0"/>
          </a:p>
        </p:txBody>
      </p:sp>
      <p:sp>
        <p:nvSpPr>
          <p:cNvPr id="5" name="Text 2"/>
          <p:cNvSpPr/>
          <p:nvPr/>
        </p:nvSpPr>
        <p:spPr>
          <a:xfrm>
            <a:off x="1271588" y="3890962"/>
            <a:ext cx="1824038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-36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🎥 Video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271588" y="4167188"/>
            <a:ext cx="1824038" cy="1952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530"/>
              </a:lnSpc>
              <a:buNone/>
            </a:pPr>
            <a:r>
              <a:rPr lang="en-US" sz="1125" kern="0" spc="-11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Moving sequences</a:t>
            </a:r>
            <a:endParaRPr lang="en-US" sz="1125" dirty="0"/>
          </a:p>
        </p:txBody>
      </p:sp>
      <p:sp>
        <p:nvSpPr>
          <p:cNvPr id="7" name="Text 4"/>
          <p:cNvSpPr/>
          <p:nvPr/>
        </p:nvSpPr>
        <p:spPr>
          <a:xfrm>
            <a:off x="6019800" y="3848100"/>
            <a:ext cx="2676525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-36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📊 Structured Data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019800" y="4171950"/>
            <a:ext cx="1824038" cy="1952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530"/>
              </a:lnSpc>
              <a:buNone/>
            </a:pPr>
            <a:r>
              <a:rPr lang="en-US" sz="1125" kern="0" spc="-11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Tables, JSON, code</a:t>
            </a:r>
            <a:endParaRPr lang="en-US" sz="1125" dirty="0"/>
          </a:p>
        </p:txBody>
      </p:sp>
      <p:sp>
        <p:nvSpPr>
          <p:cNvPr id="9" name="Text 6"/>
          <p:cNvSpPr/>
          <p:nvPr/>
        </p:nvSpPr>
        <p:spPr>
          <a:xfrm>
            <a:off x="3619500" y="3890962"/>
            <a:ext cx="222885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-36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🌍 Multilingual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3619500" y="4167188"/>
            <a:ext cx="1824038" cy="3905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530"/>
              </a:lnSpc>
              <a:buNone/>
            </a:pPr>
            <a:r>
              <a:rPr lang="en-US" sz="1125" kern="0" spc="-11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Cross-lingual understanding</a:t>
            </a:r>
            <a:endParaRPr lang="en-US" sz="1125" dirty="0"/>
          </a:p>
        </p:txBody>
      </p:sp>
      <p:sp>
        <p:nvSpPr>
          <p:cNvPr id="11" name="Text 8"/>
          <p:cNvSpPr/>
          <p:nvPr/>
        </p:nvSpPr>
        <p:spPr>
          <a:xfrm>
            <a:off x="5986463" y="2638425"/>
            <a:ext cx="1824038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-36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🔊 Audio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986463" y="2914650"/>
            <a:ext cx="1824038" cy="3905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530"/>
              </a:lnSpc>
              <a:buNone/>
            </a:pPr>
            <a:r>
              <a:rPr lang="en-US" sz="1125" kern="0" spc="-11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Voice/sound input/output</a:t>
            </a:r>
            <a:endParaRPr lang="en-US" sz="1125" dirty="0"/>
          </a:p>
        </p:txBody>
      </p:sp>
      <p:sp>
        <p:nvSpPr>
          <p:cNvPr id="13" name="Text 10"/>
          <p:cNvSpPr/>
          <p:nvPr/>
        </p:nvSpPr>
        <p:spPr>
          <a:xfrm>
            <a:off x="3619500" y="2571750"/>
            <a:ext cx="1824038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-36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🖼️ Image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3619500" y="2847975"/>
            <a:ext cx="1824038" cy="3905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530"/>
              </a:lnSpc>
              <a:buNone/>
            </a:pPr>
            <a:r>
              <a:rPr lang="en-US" sz="1125" kern="0" spc="-11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 input: images/photos</a:t>
            </a:r>
            <a:endParaRPr lang="en-US" sz="1125" dirty="0"/>
          </a:p>
        </p:txBody>
      </p:sp>
      <p:sp>
        <p:nvSpPr>
          <p:cNvPr id="15" name="Text 12"/>
          <p:cNvSpPr/>
          <p:nvPr/>
        </p:nvSpPr>
        <p:spPr>
          <a:xfrm>
            <a:off x="1252538" y="904875"/>
            <a:ext cx="4357688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-36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Modalities in LLMs</a:t>
            </a:r>
            <a:endParaRPr lang="en-US" sz="180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3763" y="757238"/>
            <a:ext cx="1304925" cy="1209675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 rot="-19599">
            <a:off x="1252538" y="1338262"/>
            <a:ext cx="4129156" cy="0"/>
          </a:xfrm>
          <a:prstGeom prst="line">
            <a:avLst/>
          </a:prstGeom>
          <a:solidFill>
            <a:srgbClr val="0047AB"/>
          </a:solidFill>
          <a:ln w="50800">
            <a:solidFill>
              <a:srgbClr val="0070F3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3837" y="271463"/>
            <a:ext cx="4090987" cy="459581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85738" y="2076450"/>
            <a:ext cx="3138488" cy="552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2160"/>
              </a:lnSpc>
              <a:buNone/>
            </a:pPr>
            <a:r>
              <a:rPr lang="en-US" sz="1800" b="1" kern="0" spc="-36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Modalities Map to Model Types</a:t>
            </a:r>
            <a:endParaRPr lang="en-US" sz="1800" dirty="0"/>
          </a:p>
        </p:txBody>
      </p:sp>
      <p:sp>
        <p:nvSpPr>
          <p:cNvPr id="5" name="Shape 1"/>
          <p:cNvSpPr/>
          <p:nvPr/>
        </p:nvSpPr>
        <p:spPr>
          <a:xfrm rot="-19599">
            <a:off x="247650" y="2752725"/>
            <a:ext cx="2619375" cy="0"/>
          </a:xfrm>
          <a:prstGeom prst="line">
            <a:avLst/>
          </a:prstGeom>
          <a:solidFill>
            <a:srgbClr val="0047AB"/>
          </a:solidFill>
          <a:ln w="50800">
            <a:solidFill>
              <a:srgbClr val="0070F3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266" y="1283494"/>
            <a:ext cx="3176588" cy="32575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609600"/>
            <a:ext cx="800100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kern="0" spc="-5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Foundational vs Proprietary Models</a:t>
            </a:r>
            <a:endParaRPr lang="en-US" sz="2250" dirty="0"/>
          </a:p>
        </p:txBody>
      </p:sp>
      <p:sp>
        <p:nvSpPr>
          <p:cNvPr id="4" name="Shape 1"/>
          <p:cNvSpPr/>
          <p:nvPr/>
        </p:nvSpPr>
        <p:spPr>
          <a:xfrm>
            <a:off x="1372778" y="1664493"/>
            <a:ext cx="2895600" cy="2190750"/>
          </a:xfrm>
          <a:prstGeom prst="rect">
            <a:avLst/>
          </a:prstGeom>
          <a:noFill/>
          <a:ln/>
        </p:spPr>
      </p:sp>
      <p:sp>
        <p:nvSpPr>
          <p:cNvPr id="5" name="Text 2"/>
          <p:cNvSpPr/>
          <p:nvPr/>
        </p:nvSpPr>
        <p:spPr>
          <a:xfrm>
            <a:off x="1372778" y="1664493"/>
            <a:ext cx="335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782"/>
              </a:lnSpc>
              <a:buNone/>
            </a:pPr>
            <a:r>
              <a:rPr lang="en-US" sz="1350" b="1" kern="0" spc="-27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Foundational Models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1372778" y="1969294"/>
            <a:ext cx="3352800" cy="976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lnSpc>
                <a:spcPts val="1530"/>
              </a:lnSpc>
              <a:buSzPct val="100000"/>
              <a:buChar char="•"/>
            </a:pPr>
            <a:r>
              <a:rPr lang="en-US" sz="1125" kern="0" spc="-11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Trained on broad, general-purpose datasets (e.g. Common Crawl, Wikipedia, books) </a:t>
            </a:r>
            <a:endParaRPr lang="en-US" sz="1125" dirty="0"/>
          </a:p>
          <a:p>
            <a:pPr marL="342900" indent="-342900" algn="l">
              <a:lnSpc>
                <a:spcPts val="1530"/>
              </a:lnSpc>
              <a:buSzPct val="100000"/>
              <a:buChar char="•"/>
            </a:pPr>
            <a:r>
              <a:rPr lang="en-US" sz="1125" kern="0" spc="-11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Released as base models. </a:t>
            </a:r>
            <a:endParaRPr lang="en-US" sz="1125" dirty="0"/>
          </a:p>
          <a:p>
            <a:pPr marL="342900" indent="-342900" algn="l">
              <a:lnSpc>
                <a:spcPts val="1530"/>
              </a:lnSpc>
              <a:buSzPct val="100000"/>
              <a:buChar char="•"/>
            </a:pPr>
            <a:r>
              <a:rPr lang="en-US" sz="1125" b="1" kern="0" spc="-11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Examples</a:t>
            </a:r>
            <a:r>
              <a:rPr lang="en-US" sz="1125" kern="0" spc="-11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LLaMA 3, Mistral, Falcon.</a:t>
            </a:r>
            <a:endParaRPr lang="en-US" sz="1125" dirty="0"/>
          </a:p>
        </p:txBody>
      </p:sp>
      <p:sp>
        <p:nvSpPr>
          <p:cNvPr id="7" name="Shape 4"/>
          <p:cNvSpPr/>
          <p:nvPr/>
        </p:nvSpPr>
        <p:spPr>
          <a:xfrm>
            <a:off x="5016091" y="1664493"/>
            <a:ext cx="3024188" cy="1200150"/>
          </a:xfrm>
          <a:prstGeom prst="rect">
            <a:avLst/>
          </a:prstGeom>
          <a:noFill/>
          <a:ln/>
        </p:spPr>
      </p:sp>
      <p:sp>
        <p:nvSpPr>
          <p:cNvPr id="8" name="Text 5"/>
          <p:cNvSpPr/>
          <p:nvPr/>
        </p:nvSpPr>
        <p:spPr>
          <a:xfrm>
            <a:off x="5016091" y="1664493"/>
            <a:ext cx="34813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782"/>
              </a:lnSpc>
              <a:buNone/>
            </a:pPr>
            <a:r>
              <a:rPr lang="en-US" sz="1350" b="1" kern="0" spc="-27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Proprietary Models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016091" y="2083594"/>
            <a:ext cx="3481388" cy="976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lnSpc>
                <a:spcPts val="1530"/>
              </a:lnSpc>
              <a:buSzPct val="100000"/>
              <a:buChar char="•"/>
            </a:pPr>
            <a:r>
              <a:rPr lang="en-US" sz="1125" kern="0" spc="-1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Developed by private companies</a:t>
            </a:r>
            <a:endParaRPr lang="en-US" sz="1125" dirty="0"/>
          </a:p>
          <a:p>
            <a:pPr marL="342900" indent="-342900" algn="l">
              <a:lnSpc>
                <a:spcPts val="1530"/>
              </a:lnSpc>
              <a:buSzPct val="100000"/>
              <a:buChar char="•"/>
            </a:pPr>
            <a:r>
              <a:rPr lang="en-US" sz="1125" kern="0" spc="-1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performance, but API-only access</a:t>
            </a:r>
            <a:endParaRPr lang="en-US" sz="1125" dirty="0"/>
          </a:p>
          <a:p>
            <a:pPr marL="342900" indent="-342900" algn="l">
              <a:lnSpc>
                <a:spcPts val="1530"/>
              </a:lnSpc>
              <a:buSzPct val="100000"/>
              <a:buChar char="•"/>
            </a:pPr>
            <a:r>
              <a:rPr lang="en-US" sz="1125" kern="0" spc="-1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Customization often limited.</a:t>
            </a:r>
            <a:endParaRPr lang="en-US" sz="1125" dirty="0"/>
          </a:p>
          <a:p>
            <a:pPr marL="342900" indent="-342900" algn="l">
              <a:lnSpc>
                <a:spcPts val="1530"/>
              </a:lnSpc>
              <a:buSzPct val="100000"/>
              <a:buChar char="•"/>
            </a:pPr>
            <a:r>
              <a:rPr lang="en-US" sz="1125" b="1" kern="0" spc="-1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Examples</a:t>
            </a:r>
            <a:r>
              <a:rPr lang="en-US" sz="1125" kern="0" spc="-11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GPT-4, Gemini, Claude.</a:t>
            </a:r>
            <a:endParaRPr lang="en-US" sz="1125" dirty="0"/>
          </a:p>
        </p:txBody>
      </p:sp>
      <p:sp>
        <p:nvSpPr>
          <p:cNvPr id="10" name="Shape 7"/>
          <p:cNvSpPr/>
          <p:nvPr/>
        </p:nvSpPr>
        <p:spPr>
          <a:xfrm>
            <a:off x="1120366" y="1283494"/>
            <a:ext cx="3148013" cy="3228975"/>
          </a:xfrm>
          <a:prstGeom prst="roundRect">
            <a:avLst>
              <a:gd name="adj" fmla="val 1162"/>
            </a:avLst>
          </a:prstGeom>
          <a:solidFill>
            <a:srgbClr val="E0ECFF">
              <a:alpha val="34000"/>
            </a:srgbClr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8628" y="3131344"/>
            <a:ext cx="476250" cy="476250"/>
          </a:xfrm>
          <a:prstGeom prst="rect">
            <a:avLst/>
          </a:prstGeom>
        </p:spPr>
      </p:pic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2441" y="3131344"/>
            <a:ext cx="476250" cy="4762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1225" y="490538"/>
            <a:ext cx="5457825" cy="36099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-476250" y="4438650"/>
            <a:ext cx="4695825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2160"/>
              </a:lnSpc>
              <a:buNone/>
            </a:pPr>
            <a:r>
              <a:rPr lang="en-US" sz="1800" b="1" kern="0" spc="-36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Families Landscape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010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-36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Model= Architecture + Weights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609600" y="1528763"/>
            <a:ext cx="2443163" cy="2566988"/>
          </a:xfrm>
          <a:prstGeom prst="rect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609600" y="1528763"/>
            <a:ext cx="2900363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kern="0" spc="-5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609600" y="1947863"/>
            <a:ext cx="2900363" cy="2147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530"/>
              </a:lnSpc>
              <a:buNone/>
            </a:pPr>
            <a:r>
              <a:rPr lang="en-US" sz="1125" b="1" kern="0" spc="-11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Blueprint</a:t>
            </a:r>
            <a:r>
              <a:rPr lang="en-US" sz="1125" kern="0" spc="-11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How many layers, what type, how they connect</a:t>
            </a:r>
            <a:endParaRPr lang="en-US" sz="1125" dirty="0"/>
          </a:p>
          <a:p>
            <a:pPr marL="0" indent="0" algn="l">
              <a:lnSpc>
                <a:spcPts val="1530"/>
              </a:lnSpc>
              <a:buNone/>
            </a:pPr>
            <a:r>
              <a:rPr lang="en-US" sz="1125" kern="0" spc="-11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Defines </a:t>
            </a:r>
            <a:r>
              <a:rPr lang="en-US" sz="1125" b="1" kern="0" spc="-11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</a:t>
            </a:r>
            <a:r>
              <a:rPr lang="en-US" sz="1125" kern="0" spc="-11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</a:t>
            </a:r>
            <a:endParaRPr lang="en-US" sz="1125" dirty="0"/>
          </a:p>
          <a:p>
            <a:pPr marL="342900" indent="-342900" algn="l">
              <a:lnSpc>
                <a:spcPts val="1530"/>
              </a:lnSpc>
              <a:buSzPct val="100000"/>
              <a:buChar char="•"/>
            </a:pPr>
            <a:r>
              <a:rPr lang="en-US" sz="1125" kern="0" spc="-11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flows through the model</a:t>
            </a:r>
            <a:endParaRPr lang="en-US" sz="1125" dirty="0"/>
          </a:p>
          <a:p>
            <a:pPr marL="342900" indent="-342900" algn="l">
              <a:lnSpc>
                <a:spcPts val="1530"/>
              </a:lnSpc>
              <a:buSzPct val="100000"/>
              <a:buChar char="•"/>
            </a:pPr>
            <a:r>
              <a:rPr lang="en-US" sz="1125" kern="0" spc="-11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patterns can be learned</a:t>
            </a:r>
            <a:endParaRPr lang="en-US" sz="1125" dirty="0"/>
          </a:p>
          <a:p>
            <a:pPr marL="0" indent="0" algn="l">
              <a:lnSpc>
                <a:spcPts val="1530"/>
              </a:lnSpc>
              <a:buNone/>
            </a:pPr>
            <a:r>
              <a:rPr lang="en-US" sz="1125" i="1" kern="0" spc="-11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 choice determines if a model can handle images (CNNs) or text (transformers).</a:t>
            </a:r>
            <a:endParaRPr lang="en-US" sz="1125" dirty="0"/>
          </a:p>
        </p:txBody>
      </p:sp>
      <p:sp>
        <p:nvSpPr>
          <p:cNvPr id="6" name="Shape 4"/>
          <p:cNvSpPr/>
          <p:nvPr/>
        </p:nvSpPr>
        <p:spPr>
          <a:xfrm>
            <a:off x="3357563" y="1528763"/>
            <a:ext cx="2443163" cy="2371725"/>
          </a:xfrm>
          <a:prstGeom prst="rect">
            <a:avLst/>
          </a:prstGeom>
          <a:noFill/>
          <a:ln/>
        </p:spPr>
      </p:sp>
      <p:sp>
        <p:nvSpPr>
          <p:cNvPr id="7" name="Text 5"/>
          <p:cNvSpPr/>
          <p:nvPr/>
        </p:nvSpPr>
        <p:spPr>
          <a:xfrm>
            <a:off x="3357563" y="1528763"/>
            <a:ext cx="2900363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50" b="1" kern="0" spc="-5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Weights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3357563" y="1947863"/>
            <a:ext cx="2900363" cy="19526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530"/>
              </a:lnSpc>
              <a:buNone/>
            </a:pPr>
            <a:r>
              <a:rPr lang="en-US" sz="1125" b="1" kern="0" spc="-11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Learned values</a:t>
            </a:r>
            <a:r>
              <a:rPr lang="en-US" sz="1125" kern="0" spc="-11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What the model knows after training</a:t>
            </a:r>
            <a:endParaRPr lang="en-US" sz="1125" dirty="0"/>
          </a:p>
          <a:p>
            <a:pPr marL="0" indent="0" algn="l">
              <a:lnSpc>
                <a:spcPts val="1530"/>
              </a:lnSpc>
              <a:buNone/>
            </a:pPr>
            <a:r>
              <a:rPr lang="en-US" sz="1125" b="1" kern="0" spc="-11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Numerical values </a:t>
            </a:r>
            <a:r>
              <a:rPr lang="en-US" sz="1125" kern="0" spc="-11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(e.g., 0.347, -1.892) that scale input data.</a:t>
            </a:r>
            <a:endParaRPr lang="en-US" sz="1125" dirty="0"/>
          </a:p>
          <a:p>
            <a:pPr marL="0" indent="0" algn="l">
              <a:lnSpc>
                <a:spcPts val="1530"/>
              </a:lnSpc>
              <a:buNone/>
            </a:pPr>
            <a:r>
              <a:rPr lang="en-US" sz="1125" i="1" kern="0" spc="-11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Weights determine if a model actually works well for your specific task.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6862763" y="609600"/>
            <a:ext cx="2281238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206"/>
              </a:lnSpc>
              <a:buNone/>
            </a:pPr>
            <a:r>
              <a:rPr lang="en-US" sz="900" i="1" kern="0" spc="-5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Makes a Model Work?</a:t>
            </a:r>
            <a:endParaRPr lang="en-US" sz="900" dirty="0"/>
          </a:p>
          <a:p>
            <a:pPr marL="0" indent="0" algn="l">
              <a:lnSpc>
                <a:spcPts val="1206"/>
              </a:lnSpc>
              <a:buNone/>
            </a:pPr>
            <a:r>
              <a:rPr lang="en-US" sz="900" i="1" kern="0" spc="-5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 gives </a:t>
            </a:r>
            <a:r>
              <a:rPr lang="en-US" sz="900" b="1" i="1" kern="0" spc="-5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</a:t>
            </a:r>
            <a:r>
              <a:rPr lang="en-US" sz="900" i="1" kern="0" spc="-5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</a:t>
            </a:r>
            <a:endParaRPr lang="en-US" sz="900" dirty="0"/>
          </a:p>
          <a:p>
            <a:pPr marL="0" indent="0" algn="l">
              <a:lnSpc>
                <a:spcPts val="1206"/>
              </a:lnSpc>
              <a:buNone/>
            </a:pPr>
            <a:r>
              <a:rPr lang="en-US" sz="900" i="1" kern="0" spc="-5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Weights give </a:t>
            </a:r>
            <a:r>
              <a:rPr lang="en-US" sz="900" b="1" i="1" kern="0" spc="-5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skill</a:t>
            </a:r>
            <a:r>
              <a:rPr lang="en-US" sz="900" i="1" kern="0" spc="-5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9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2763" y="1462088"/>
            <a:ext cx="1824038" cy="239077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993840"/>
            <a:ext cx="3600450" cy="5524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-36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Proprietary Models: What You Don’t Get to See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0" y="889065"/>
            <a:ext cx="4014788" cy="2857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 algn="l">
              <a:lnSpc>
                <a:spcPts val="1890"/>
              </a:lnSpc>
              <a:buSzPct val="100000"/>
              <a:buChar char="•"/>
            </a:pPr>
            <a:r>
              <a:rPr lang="en-US" sz="1350" b="1" kern="0" spc="-13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Weights are not released</a:t>
            </a:r>
            <a:r>
              <a:rPr lang="en-US" sz="1350" kern="0" spc="-13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 only accessible via API.</a:t>
            </a:r>
            <a:endParaRPr lang="en-US" sz="1350" dirty="0"/>
          </a:p>
          <a:p>
            <a:pPr marL="342900" indent="-342900" algn="l">
              <a:lnSpc>
                <a:spcPts val="1890"/>
              </a:lnSpc>
              <a:buSzPct val="100000"/>
              <a:buChar char="•"/>
            </a:pPr>
            <a:r>
              <a:rPr lang="en-US" sz="1350" b="1" kern="0" spc="-13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Training data</a:t>
            </a:r>
            <a:r>
              <a:rPr lang="en-US" sz="1350" kern="0" spc="-13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is undisclosed .</a:t>
            </a:r>
            <a:endParaRPr lang="en-US" sz="1350" dirty="0"/>
          </a:p>
          <a:p>
            <a:pPr marL="342900" indent="-342900" algn="l">
              <a:lnSpc>
                <a:spcPts val="1890"/>
              </a:lnSpc>
              <a:buSzPct val="100000"/>
              <a:buChar char="•"/>
            </a:pPr>
            <a:r>
              <a:rPr lang="en-US" sz="1350" b="1" kern="0" spc="-13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architecture</a:t>
            </a:r>
            <a:r>
              <a:rPr lang="en-US" sz="1350" kern="0" spc="-13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may not disclosed.</a:t>
            </a:r>
            <a:endParaRPr lang="en-US" sz="1350" dirty="0"/>
          </a:p>
          <a:p>
            <a:pPr marL="342900" indent="-342900" algn="l">
              <a:lnSpc>
                <a:spcPts val="1890"/>
              </a:lnSpc>
              <a:buSzPct val="100000"/>
              <a:buChar char="•"/>
            </a:pPr>
            <a:r>
              <a:rPr lang="en-US" sz="1350" b="1" kern="0" spc="-13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Fine-tuning access</a:t>
            </a:r>
            <a:r>
              <a:rPr lang="en-US" sz="1350" kern="0" spc="-13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is limited or expensive.</a:t>
            </a:r>
            <a:endParaRPr lang="en-US" sz="1350" dirty="0"/>
          </a:p>
          <a:p>
            <a:pPr marL="342900" indent="-342900" algn="l">
              <a:lnSpc>
                <a:spcPts val="1890"/>
              </a:lnSpc>
              <a:buSzPct val="100000"/>
              <a:buChar char="•"/>
            </a:pPr>
            <a:r>
              <a:rPr lang="en-US" sz="1350" b="1" kern="0" spc="-13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Usage tracking + safety layers</a:t>
            </a:r>
            <a:r>
              <a:rPr lang="en-US" sz="1350" kern="0" spc="-13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often run in the background.</a:t>
            </a:r>
            <a:endParaRPr lang="en-US" sz="13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8163" y="476250"/>
            <a:ext cx="4676775" cy="4191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90525" y="4098990"/>
            <a:ext cx="3957638" cy="3667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206"/>
              </a:lnSpc>
              <a:buNone/>
            </a:pPr>
            <a:r>
              <a:rPr lang="en-US" sz="900" i="1" kern="0" spc="-5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Understanding the hidden layers behind closed-source LLMs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 rot="583">
            <a:off x="609600" y="1784415"/>
            <a:ext cx="2857500" cy="0"/>
          </a:xfrm>
          <a:prstGeom prst="line">
            <a:avLst/>
          </a:prstGeom>
          <a:solidFill>
            <a:srgbClr val="0047AB"/>
          </a:solidFill>
          <a:ln w="50800">
            <a:solidFill>
              <a:srgbClr val="0070F3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7300" y="2091424"/>
            <a:ext cx="1470627" cy="200878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1513" y="1390650"/>
            <a:ext cx="27432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-36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Parameters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452813" y="1981200"/>
            <a:ext cx="2324100" cy="457200"/>
          </a:xfrm>
          <a:prstGeom prst="rect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3452813" y="1981200"/>
            <a:ext cx="27813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782"/>
              </a:lnSpc>
              <a:buNone/>
            </a:pPr>
            <a:r>
              <a:rPr lang="en-US" sz="1350" b="1" kern="0" spc="-27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"rules"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452813" y="2286000"/>
            <a:ext cx="2781300" cy="152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206"/>
              </a:lnSpc>
              <a:buNone/>
            </a:pPr>
            <a:r>
              <a:rPr lang="en-US" sz="900" kern="0" spc="-5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 The model has no explicit logic—just math.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272213" y="904875"/>
            <a:ext cx="2324100" cy="609600"/>
          </a:xfrm>
          <a:prstGeom prst="rect">
            <a:avLst/>
          </a:prstGeom>
          <a:noFill/>
          <a:ln/>
        </p:spPr>
      </p:sp>
      <p:sp>
        <p:nvSpPr>
          <p:cNvPr id="7" name="Text 5"/>
          <p:cNvSpPr/>
          <p:nvPr/>
        </p:nvSpPr>
        <p:spPr>
          <a:xfrm>
            <a:off x="6272213" y="904875"/>
            <a:ext cx="27813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782"/>
              </a:lnSpc>
              <a:buNone/>
            </a:pPr>
            <a:r>
              <a:rPr lang="en-US" sz="1350" b="1" kern="0" spc="-27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"knowledge"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272213" y="1209675"/>
            <a:ext cx="27813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206"/>
              </a:lnSpc>
              <a:buNone/>
            </a:pPr>
            <a:r>
              <a:rPr lang="en-US" sz="900" kern="0" spc="-5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That's the weights and patterns formed by parameters during training.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272213" y="1981200"/>
            <a:ext cx="2324100" cy="609600"/>
          </a:xfrm>
          <a:prstGeom prst="rect">
            <a:avLst/>
          </a:prstGeom>
          <a:noFill/>
          <a:ln/>
        </p:spPr>
      </p:sp>
      <p:sp>
        <p:nvSpPr>
          <p:cNvPr id="10" name="Text 8"/>
          <p:cNvSpPr/>
          <p:nvPr/>
        </p:nvSpPr>
        <p:spPr>
          <a:xfrm>
            <a:off x="6272213" y="1981200"/>
            <a:ext cx="27813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782"/>
              </a:lnSpc>
              <a:buNone/>
            </a:pPr>
            <a:r>
              <a:rPr lang="en-US" sz="1350" b="1" kern="0" spc="-27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fixed 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272213" y="2286000"/>
            <a:ext cx="27813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206"/>
              </a:lnSpc>
              <a:buNone/>
            </a:pPr>
            <a:r>
              <a:rPr lang="en-US" sz="900" kern="0" spc="-5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They change during training via optimization.</a:t>
            </a:r>
            <a:endParaRPr lang="en-US" sz="9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8988" y="847725"/>
            <a:ext cx="2571750" cy="933450"/>
          </a:xfrm>
          <a:prstGeom prst="rect">
            <a:avLst/>
          </a:prstGeom>
        </p:spPr>
      </p:pic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8988" y="1909762"/>
            <a:ext cx="2571750" cy="933450"/>
          </a:xfrm>
          <a:prstGeom prst="rect">
            <a:avLst/>
          </a:prstGeom>
        </p:spPr>
      </p:pic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2675" y="847725"/>
            <a:ext cx="2571750" cy="933450"/>
          </a:xfrm>
          <a:prstGeom prst="rect">
            <a:avLst/>
          </a:prstGeom>
        </p:spPr>
      </p:pic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2675" y="1909762"/>
            <a:ext cx="2571750" cy="933450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3452813" y="904875"/>
            <a:ext cx="2324100" cy="762000"/>
          </a:xfrm>
          <a:prstGeom prst="rect">
            <a:avLst/>
          </a:prstGeom>
          <a:noFill/>
          <a:ln/>
        </p:spPr>
      </p:sp>
      <p:sp>
        <p:nvSpPr>
          <p:cNvPr id="17" name="Text 11"/>
          <p:cNvSpPr/>
          <p:nvPr/>
        </p:nvSpPr>
        <p:spPr>
          <a:xfrm>
            <a:off x="3452813" y="904875"/>
            <a:ext cx="27813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782"/>
              </a:lnSpc>
              <a:buNone/>
            </a:pPr>
            <a:r>
              <a:rPr lang="en-US" sz="1350" b="1" kern="0" spc="-27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Numerical values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3452813" y="1209675"/>
            <a:ext cx="27813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206"/>
              </a:lnSpc>
              <a:buNone/>
            </a:pPr>
            <a:r>
              <a:rPr lang="en-US" sz="900" kern="0" spc="-5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Parameters are the  that define how a </a:t>
            </a:r>
            <a:r>
              <a:rPr lang="en-US" sz="900" b="1" kern="0" spc="-5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neural network processes</a:t>
            </a:r>
            <a:r>
              <a:rPr lang="en-US" sz="900" kern="0" spc="-5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input data to produce output.</a:t>
            </a:r>
            <a:endParaRPr lang="en-US" sz="900" dirty="0"/>
          </a:p>
        </p:txBody>
      </p:sp>
      <p:sp>
        <p:nvSpPr>
          <p:cNvPr id="19" name="Text 13"/>
          <p:cNvSpPr/>
          <p:nvPr/>
        </p:nvSpPr>
        <p:spPr>
          <a:xfrm>
            <a:off x="666750" y="1595438"/>
            <a:ext cx="52863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4"/>
          <p:cNvSpPr/>
          <p:nvPr/>
        </p:nvSpPr>
        <p:spPr>
          <a:xfrm>
            <a:off x="666750" y="1752600"/>
            <a:ext cx="2224088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206"/>
              </a:lnSpc>
              <a:buNone/>
            </a:pPr>
            <a:r>
              <a:rPr lang="en-US" sz="900" i="1" kern="0" spc="-5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does a trillion-parameter model actually mean?</a:t>
            </a:r>
            <a:endParaRPr lang="en-US" sz="90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550" y="3481388"/>
            <a:ext cx="8496300" cy="52863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010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-36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Parameters Actually Do</a:t>
            </a:r>
            <a:endParaRPr lang="en-US" sz="1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663" y="3271838"/>
            <a:ext cx="476250" cy="47625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57188" y="1652588"/>
            <a:ext cx="2439987" cy="1524000"/>
          </a:xfrm>
          <a:prstGeom prst="rect">
            <a:avLst/>
          </a:prstGeom>
          <a:noFill/>
          <a:ln/>
        </p:spPr>
      </p:sp>
      <p:sp>
        <p:nvSpPr>
          <p:cNvPr id="5" name="Text 2"/>
          <p:cNvSpPr/>
          <p:nvPr/>
        </p:nvSpPr>
        <p:spPr>
          <a:xfrm>
            <a:off x="357188" y="1652588"/>
            <a:ext cx="2897187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782"/>
              </a:lnSpc>
              <a:buNone/>
            </a:pPr>
            <a:r>
              <a:rPr lang="en-US" sz="1350" b="1" kern="0" spc="-27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 Input Data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357188" y="1957388"/>
            <a:ext cx="2520000" cy="121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>
              <a:lnSpc>
                <a:spcPts val="1206"/>
              </a:lnSpc>
              <a:buSzPct val="100000"/>
            </a:pPr>
            <a:r>
              <a:rPr lang="en-US" sz="1200" kern="0" spc="-5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input (text, image, etc.) is converted to numbers (vectors).</a:t>
            </a:r>
            <a:endParaRPr lang="en-US" sz="1200" dirty="0"/>
          </a:p>
          <a:p>
            <a:pPr algn="l">
              <a:lnSpc>
                <a:spcPts val="1206"/>
              </a:lnSpc>
              <a:buSzPct val="100000"/>
            </a:pPr>
            <a:r>
              <a:rPr lang="en-US" sz="1200" kern="0" spc="-5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Parameters are the coefficients in the functions that:</a:t>
            </a:r>
            <a:br>
              <a:rPr lang="en-US" sz="1200" dirty="0"/>
            </a:br>
            <a:r>
              <a:rPr lang="en-US" sz="1200" kern="0" spc="-5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Scale (</a:t>
            </a:r>
            <a:r>
              <a:rPr lang="en-US" sz="1200" b="1" kern="0" spc="-5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weight</a:t>
            </a:r>
            <a:r>
              <a:rPr lang="en-US" sz="1200" kern="0" spc="-5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), </a:t>
            </a:r>
            <a:br>
              <a:rPr lang="en-US" sz="1200" dirty="0"/>
            </a:br>
            <a:r>
              <a:rPr lang="en-US" sz="1200" kern="0" spc="-5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Shift (</a:t>
            </a:r>
            <a:r>
              <a:rPr lang="en-US" sz="1200" b="1" kern="0" spc="-5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bias</a:t>
            </a:r>
            <a:r>
              <a:rPr lang="en-US" sz="1200" kern="0" spc="-5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), or </a:t>
            </a:r>
            <a:br>
              <a:rPr lang="en-US" sz="1200" dirty="0"/>
            </a:br>
            <a:r>
              <a:rPr lang="en-US" sz="1200" kern="0" spc="-5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Gate (</a:t>
            </a:r>
            <a:r>
              <a:rPr lang="en-US" sz="1200" b="1" kern="0" spc="-5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attention</a:t>
            </a:r>
            <a:r>
              <a:rPr lang="en-US" sz="1200" kern="0" spc="-5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 these numbers.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349619" y="1652588"/>
            <a:ext cx="2439988" cy="1371600"/>
          </a:xfrm>
          <a:prstGeom prst="rect">
            <a:avLst/>
          </a:prstGeom>
          <a:noFill/>
          <a:ln/>
        </p:spPr>
      </p:sp>
      <p:sp>
        <p:nvSpPr>
          <p:cNvPr id="8" name="Text 5"/>
          <p:cNvSpPr/>
          <p:nvPr/>
        </p:nvSpPr>
        <p:spPr>
          <a:xfrm>
            <a:off x="3349619" y="1652588"/>
            <a:ext cx="28971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782"/>
              </a:lnSpc>
              <a:buNone/>
            </a:pPr>
            <a:r>
              <a:rPr lang="en-US" sz="1350" b="1" kern="0" spc="-27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Enable Learning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3309613" y="1957387"/>
            <a:ext cx="2520000" cy="12477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>
              <a:lnSpc>
                <a:spcPts val="1206"/>
              </a:lnSpc>
              <a:buSzPct val="100000"/>
            </a:pPr>
            <a:r>
              <a:rPr lang="en-US" sz="1200" kern="0" spc="-5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During training, parameters are adjusted via:</a:t>
            </a:r>
            <a:br>
              <a:rPr lang="en-US" sz="1200" dirty="0"/>
            </a:br>
            <a:r>
              <a:rPr lang="en-US" sz="1200" b="1" kern="0" spc="-5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Loss calculation</a:t>
            </a:r>
            <a:r>
              <a:rPr lang="en-US" sz="1200" kern="0" spc="-5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How wrong the model's output is.</a:t>
            </a:r>
            <a:br>
              <a:rPr lang="en-US" sz="1200" dirty="0"/>
            </a:br>
            <a:r>
              <a:rPr lang="en-US" sz="1200" b="1" kern="0" spc="-5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Gradient descent</a:t>
            </a:r>
            <a:r>
              <a:rPr lang="en-US" sz="1200" kern="0" spc="-5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Tweaking parameters to reduce loss.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094409" y="1652588"/>
            <a:ext cx="2439988" cy="1371600"/>
          </a:xfrm>
          <a:prstGeom prst="rect">
            <a:avLst/>
          </a:prstGeom>
          <a:noFill/>
          <a:ln/>
        </p:spPr>
      </p:sp>
      <p:sp>
        <p:nvSpPr>
          <p:cNvPr id="11" name="Text 8"/>
          <p:cNvSpPr/>
          <p:nvPr/>
        </p:nvSpPr>
        <p:spPr>
          <a:xfrm>
            <a:off x="6094409" y="1652588"/>
            <a:ext cx="28971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782"/>
              </a:lnSpc>
              <a:buNone/>
            </a:pPr>
            <a:r>
              <a:rPr lang="en-US" sz="1350" b="1" kern="0" spc="-27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Dictate Model Behavior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094409" y="1957388"/>
            <a:ext cx="2700000" cy="106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206"/>
              </a:lnSpc>
              <a:buNone/>
            </a:pPr>
            <a:r>
              <a:rPr lang="en-US" sz="1200" kern="0" spc="-5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 arrangement and values of parameters determine:</a:t>
            </a:r>
            <a:endParaRPr lang="en-US" sz="1200" dirty="0"/>
          </a:p>
          <a:p>
            <a:pPr algn="l">
              <a:lnSpc>
                <a:spcPts val="1206"/>
              </a:lnSpc>
              <a:buSzPct val="100000"/>
            </a:pPr>
            <a:r>
              <a:rPr lang="en-US" sz="1200" b="1" kern="0" spc="-5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Capacity</a:t>
            </a:r>
            <a:r>
              <a:rPr lang="en-US" sz="1200" kern="0" spc="-5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Can it memorize complex patterns?</a:t>
            </a:r>
            <a:endParaRPr lang="en-US" sz="1200" dirty="0"/>
          </a:p>
          <a:p>
            <a:pPr algn="l">
              <a:lnSpc>
                <a:spcPts val="1206"/>
              </a:lnSpc>
              <a:buSzPct val="100000"/>
            </a:pPr>
            <a:r>
              <a:rPr lang="en-US" sz="1200" b="1" kern="0" spc="-5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Generalization</a:t>
            </a:r>
            <a:r>
              <a:rPr lang="en-US" sz="1200" kern="0" spc="-5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Can it apply patterns to new data?</a:t>
            </a:r>
            <a:endParaRPr lang="en-US" sz="12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4403" y="1414463"/>
            <a:ext cx="2628900" cy="287178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3190875" y="1414463"/>
            <a:ext cx="2600325" cy="2843213"/>
          </a:xfrm>
          <a:prstGeom prst="roundRect">
            <a:avLst>
              <a:gd name="adj" fmla="val 1407"/>
            </a:avLst>
          </a:prstGeom>
          <a:solidFill>
            <a:srgbClr val="000000">
              <a:alpha val="10000"/>
            </a:srgbClr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2913" y="3248025"/>
            <a:ext cx="476250" cy="47625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18474" y="4476751"/>
            <a:ext cx="7982589" cy="1142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206"/>
              </a:lnSpc>
              <a:buNone/>
            </a:pPr>
            <a:r>
              <a:rPr lang="en-US" sz="1200" i="1" kern="0" spc="-5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📦 Parameters = the knobs, levers, and memory of a model. They shape how input becomes output — and how models evolve</a:t>
            </a:r>
            <a:r>
              <a:rPr lang="en-US" sz="1200" kern="0" spc="-5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2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772" y="1414463"/>
            <a:ext cx="2628900" cy="2871788"/>
          </a:xfrm>
          <a:prstGeom prst="rect">
            <a:avLst/>
          </a:prstGeom>
        </p:spPr>
      </p:pic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77075" y="3205163"/>
            <a:ext cx="476250" cy="47625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8225" y="2090738"/>
            <a:ext cx="3124200" cy="8286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-36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Does “Open Weights” Actually Mean?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610100" y="1300163"/>
            <a:ext cx="3238500" cy="457200"/>
          </a:xfrm>
          <a:prstGeom prst="rect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4610100" y="1300163"/>
            <a:ext cx="36957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782"/>
              </a:lnSpc>
              <a:buNone/>
            </a:pPr>
            <a:r>
              <a:rPr lang="en-US" sz="1350" b="1" kern="0" spc="-27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Downloadable model weights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610100" y="1604963"/>
            <a:ext cx="3695700" cy="152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206"/>
              </a:lnSpc>
              <a:buNone/>
            </a:pPr>
            <a:r>
              <a:rPr lang="en-US" sz="1200" kern="0" spc="-5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Training data (usually unreleased or partially described)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610100" y="2262188"/>
            <a:ext cx="3238500" cy="457200"/>
          </a:xfrm>
          <a:prstGeom prst="rect">
            <a:avLst/>
          </a:prstGeom>
          <a:noFill/>
          <a:ln/>
        </p:spPr>
      </p:sp>
      <p:sp>
        <p:nvSpPr>
          <p:cNvPr id="7" name="Text 5"/>
          <p:cNvSpPr/>
          <p:nvPr/>
        </p:nvSpPr>
        <p:spPr>
          <a:xfrm>
            <a:off x="4610100" y="2262188"/>
            <a:ext cx="36957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782"/>
              </a:lnSpc>
              <a:buNone/>
            </a:pPr>
            <a:r>
              <a:rPr lang="en-US" sz="1350" b="1" kern="0" spc="-27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Ability to run/fine-tune locally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610100" y="2566988"/>
            <a:ext cx="3695700" cy="152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206"/>
              </a:lnSpc>
              <a:buNone/>
            </a:pPr>
            <a:r>
              <a:rPr lang="en-US" sz="1200" kern="0" spc="-5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license to deploy commercially (varies by model)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10100" y="3224213"/>
            <a:ext cx="3238500" cy="457200"/>
          </a:xfrm>
          <a:prstGeom prst="rect">
            <a:avLst/>
          </a:prstGeom>
          <a:noFill/>
          <a:ln/>
        </p:spPr>
      </p:sp>
      <p:sp>
        <p:nvSpPr>
          <p:cNvPr id="10" name="Text 8"/>
          <p:cNvSpPr/>
          <p:nvPr/>
        </p:nvSpPr>
        <p:spPr>
          <a:xfrm>
            <a:off x="4610100" y="3224213"/>
            <a:ext cx="36957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782"/>
              </a:lnSpc>
              <a:buNone/>
            </a:pPr>
            <a:r>
              <a:rPr lang="en-US" sz="1350" b="1" kern="0" spc="-27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 details (often published)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610100" y="3529013"/>
            <a:ext cx="3695700" cy="152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206"/>
              </a:lnSpc>
              <a:buNone/>
            </a:pPr>
            <a:r>
              <a:rPr lang="en-US" sz="1200" kern="0" spc="-5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Tokenizers, eval metrics, or guardrails often separate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38225" y="3248025"/>
            <a:ext cx="2100263" cy="152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206"/>
              </a:lnSpc>
              <a:buNone/>
            </a:pPr>
            <a:r>
              <a:rPr lang="en-US" sz="1200" i="1" kern="0" spc="-5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Weights ≠ Full Openness</a:t>
            </a:r>
            <a:endParaRPr lang="en-US" sz="12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3881" y="1056244"/>
            <a:ext cx="4148137" cy="356711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652588"/>
            <a:ext cx="2462213" cy="3209925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2788" y="1652588"/>
            <a:ext cx="2462213" cy="3209925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5975" y="1652588"/>
            <a:ext cx="2462213" cy="3209925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609600" y="609600"/>
            <a:ext cx="8001000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-36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Does Bigger = Better?</a:t>
            </a:r>
            <a:endParaRPr lang="en-US" sz="1800" dirty="0"/>
          </a:p>
        </p:txBody>
      </p:sp>
      <p:sp>
        <p:nvSpPr>
          <p:cNvPr id="6" name="Shape 1"/>
          <p:cNvSpPr/>
          <p:nvPr/>
        </p:nvSpPr>
        <p:spPr>
          <a:xfrm>
            <a:off x="900113" y="1928813"/>
            <a:ext cx="1943100" cy="2614613"/>
          </a:xfrm>
          <a:prstGeom prst="rect">
            <a:avLst/>
          </a:prstGeom>
          <a:noFill/>
          <a:ln/>
        </p:spPr>
      </p:sp>
      <p:sp>
        <p:nvSpPr>
          <p:cNvPr id="7" name="Text 2"/>
          <p:cNvSpPr/>
          <p:nvPr/>
        </p:nvSpPr>
        <p:spPr>
          <a:xfrm>
            <a:off x="900113" y="1928813"/>
            <a:ext cx="2160000" cy="26146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782"/>
              </a:lnSpc>
              <a:buNone/>
            </a:pPr>
            <a:r>
              <a:rPr lang="en-US" sz="1200" b="1" kern="0" spc="-27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Memorization vs Generalization</a:t>
            </a:r>
            <a:endParaRPr lang="en-US" sz="1200" dirty="0"/>
          </a:p>
          <a:p>
            <a:pPr marL="0" indent="0" algn="l">
              <a:lnSpc>
                <a:spcPts val="1530"/>
              </a:lnSpc>
              <a:buNone/>
            </a:pPr>
            <a:r>
              <a:rPr lang="en-US" sz="1200" b="1" kern="0" spc="-11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🧠 Bigger ≠ Smarter</a:t>
            </a:r>
            <a:endParaRPr lang="en-US" sz="1200" dirty="0"/>
          </a:p>
          <a:p>
            <a:pPr marL="0" indent="0" algn="l">
              <a:lnSpc>
                <a:spcPts val="1530"/>
              </a:lnSpc>
              <a:buNone/>
            </a:pPr>
            <a:r>
              <a:rPr lang="en-US" sz="1200" kern="0" spc="-11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 Large models can</a:t>
            </a:r>
            <a:r>
              <a:rPr lang="en-US" sz="1200" b="1" kern="0" spc="-11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memorize training dat</a:t>
            </a:r>
            <a:r>
              <a:rPr lang="en-US" sz="1200" kern="0" spc="-11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if not trained properly — making them brittle or biased.</a:t>
            </a:r>
            <a:endParaRPr lang="en-US" sz="1200" dirty="0"/>
          </a:p>
          <a:p>
            <a:pPr marL="0" indent="0" algn="l">
              <a:lnSpc>
                <a:spcPts val="1206"/>
              </a:lnSpc>
              <a:buNone/>
            </a:pPr>
            <a:r>
              <a:rPr lang="en-US" sz="1200" b="1" i="1" kern="0" spc="-5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r>
              <a:rPr lang="en-US" sz="1200" i="1" kern="0" spc="-5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A poorly trained 70B model might repeat toxic forum posts instead of understanding nuance in a new context</a:t>
            </a:r>
            <a:r>
              <a:rPr lang="en-US" sz="1200" kern="0" spc="-11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200" dirty="0"/>
          </a:p>
        </p:txBody>
      </p:sp>
      <p:sp>
        <p:nvSpPr>
          <p:cNvPr id="8" name="Text 3"/>
          <p:cNvSpPr/>
          <p:nvPr/>
        </p:nvSpPr>
        <p:spPr>
          <a:xfrm>
            <a:off x="3350626" y="1919288"/>
            <a:ext cx="2340000" cy="24288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782"/>
              </a:lnSpc>
              <a:buNone/>
            </a:pPr>
            <a:r>
              <a:rPr lang="en-US" sz="1200" b="1" kern="0" spc="-27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Finetuned &gt; Gigantic</a:t>
            </a:r>
            <a:endParaRPr lang="en-US" sz="1200" dirty="0"/>
          </a:p>
          <a:p>
            <a:pPr marL="0" indent="0" algn="l">
              <a:lnSpc>
                <a:spcPts val="1530"/>
              </a:lnSpc>
              <a:buNone/>
            </a:pPr>
            <a:r>
              <a:rPr lang="en-US" sz="1200" b="1" kern="0" spc="-11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🎯 Smaller + Targeted = Better</a:t>
            </a:r>
            <a:endParaRPr lang="en-US" sz="1200" dirty="0"/>
          </a:p>
          <a:p>
            <a:pPr marL="0" indent="0" algn="l">
              <a:lnSpc>
                <a:spcPts val="1530"/>
              </a:lnSpc>
              <a:buNone/>
            </a:pPr>
            <a:r>
              <a:rPr lang="en-US" sz="1200" kern="0" spc="-11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  A smaller model,</a:t>
            </a:r>
            <a:r>
              <a:rPr lang="en-US" sz="1200" b="1" kern="0" spc="-11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finetuned on clinical trial</a:t>
            </a:r>
            <a:r>
              <a:rPr lang="en-US" sz="1200" kern="0" spc="-11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s, can outperform GPT-4 on biomedical summarization.</a:t>
            </a:r>
            <a:endParaRPr lang="en-US" sz="1200" dirty="0"/>
          </a:p>
          <a:p>
            <a:pPr marL="0" indent="0" algn="l">
              <a:lnSpc>
                <a:spcPts val="1206"/>
              </a:lnSpc>
              <a:buNone/>
            </a:pPr>
            <a:r>
              <a:rPr lang="en-US" sz="1200" b="1" kern="0" spc="-5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 Exampl</a:t>
            </a:r>
            <a:r>
              <a:rPr lang="en-US" sz="1200" kern="0" spc="-5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e: BioGPT or a custom Gemini finetune often beats generic LLMs in specialized settings</a:t>
            </a:r>
            <a:r>
              <a:rPr lang="en-US" sz="1200" kern="0" spc="-11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200" dirty="0"/>
          </a:p>
        </p:txBody>
      </p:sp>
      <p:sp>
        <p:nvSpPr>
          <p:cNvPr id="9" name="Shape 4"/>
          <p:cNvSpPr/>
          <p:nvPr/>
        </p:nvSpPr>
        <p:spPr>
          <a:xfrm>
            <a:off x="6219825" y="1928813"/>
            <a:ext cx="1933575" cy="2419350"/>
          </a:xfrm>
          <a:prstGeom prst="rect">
            <a:avLst/>
          </a:prstGeom>
          <a:noFill/>
          <a:ln/>
        </p:spPr>
      </p:sp>
      <p:sp>
        <p:nvSpPr>
          <p:cNvPr id="10" name="Text 5"/>
          <p:cNvSpPr/>
          <p:nvPr/>
        </p:nvSpPr>
        <p:spPr>
          <a:xfrm>
            <a:off x="5957081" y="1843972"/>
            <a:ext cx="2340000" cy="2419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782"/>
              </a:lnSpc>
              <a:buNone/>
            </a:pPr>
            <a:r>
              <a:rPr lang="en-US" sz="1350" b="1" kern="0" spc="-27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 Reality</a:t>
            </a:r>
            <a:endParaRPr lang="en-US" sz="1350" dirty="0"/>
          </a:p>
          <a:p>
            <a:pPr marL="0" indent="0" algn="l">
              <a:lnSpc>
                <a:spcPts val="1530"/>
              </a:lnSpc>
              <a:buNone/>
            </a:pPr>
            <a:r>
              <a:rPr lang="en-US" sz="1125" b="1" kern="0" spc="-11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💰 More Params = More Compute = More $$$</a:t>
            </a:r>
            <a:endParaRPr lang="en-US" sz="1350" dirty="0"/>
          </a:p>
          <a:p>
            <a:pPr marL="0" indent="0" algn="l">
              <a:lnSpc>
                <a:spcPts val="1530"/>
              </a:lnSpc>
              <a:buNone/>
            </a:pPr>
            <a:r>
              <a:rPr lang="en-US" sz="1125" kern="0" spc="-11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  Every billion parameters adds cost — for both training and inference.</a:t>
            </a:r>
            <a:endParaRPr lang="en-US" sz="1350" dirty="0"/>
          </a:p>
          <a:p>
            <a:pPr marL="0" indent="0" algn="l">
              <a:lnSpc>
                <a:spcPts val="1206"/>
              </a:lnSpc>
              <a:buNone/>
            </a:pPr>
            <a:r>
              <a:rPr lang="en-US" sz="900" b="1" i="1" kern="0" spc="-5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 Exampl</a:t>
            </a:r>
            <a:r>
              <a:rPr lang="en-US" sz="900" kern="0" spc="-5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e: GPT-4-turbo is cheaper than GPT-4 because it optimizes how those parameters are used — not because it’s smaller</a:t>
            </a:r>
            <a:r>
              <a:rPr lang="en-US" sz="1125" kern="0" spc="-11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09600" y="1004887"/>
            <a:ext cx="6111711" cy="1333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206"/>
              </a:lnSpc>
              <a:buNone/>
            </a:pPr>
            <a:r>
              <a:rPr lang="en-US" sz="1200" i="1" kern="0" spc="-5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More parameters ≠ better results — unless trained well and aligned to the right task.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1390650"/>
            <a:ext cx="7639050" cy="31146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52450" y="752475"/>
            <a:ext cx="5572125" cy="27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kern="0" spc="-36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Preview — From Parameters to Meaning (Day 2)</a:t>
            </a:r>
            <a:endParaRPr lang="en-US" sz="18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1543050"/>
            <a:ext cx="7315200" cy="277653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671638" y="4667250"/>
            <a:ext cx="5605463" cy="5857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ts val="1530"/>
              </a:lnSpc>
              <a:buNone/>
            </a:pPr>
            <a:r>
              <a:rPr lang="en-US" sz="1125" i="1" kern="0" spc="-11" dirty="0">
                <a:solidFill>
                  <a:srgbClr val="99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“The model doesn’t just generate text. It learns to position language in space.”</a:t>
            </a:r>
            <a:endParaRPr lang="en-US" sz="11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riaaise">
  <a:themeElements>
    <a:clrScheme name="Custom 1">
      <a:dk1>
        <a:srgbClr val="0B2338"/>
      </a:dk1>
      <a:lt1>
        <a:srgbClr val="F2F3F7"/>
      </a:lt1>
      <a:dk2>
        <a:srgbClr val="000000"/>
      </a:dk2>
      <a:lt2>
        <a:srgbClr val="F8F8F8"/>
      </a:lt2>
      <a:accent1>
        <a:srgbClr val="0047FF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0047FF"/>
      </a:hlink>
      <a:folHlink>
        <a:srgbClr val="002FA7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riaaise" id="{B1D98594-AB39-2F4E-A1CC-CA8E4FCFF6ED}" vid="{F576769D-9072-1646-BC8F-38044234B681}"/>
    </a:ext>
  </a:extLst>
</a:theme>
</file>

<file path=ppt/theme/theme2.xml><?xml version="1.0" encoding="utf-8"?>
<a:theme xmlns:a="http://schemas.openxmlformats.org/drawingml/2006/main" name="1_mariaaise">
  <a:themeElements>
    <a:clrScheme name="Custom 1">
      <a:dk1>
        <a:srgbClr val="0B2338"/>
      </a:dk1>
      <a:lt1>
        <a:srgbClr val="F2F3F7"/>
      </a:lt1>
      <a:dk2>
        <a:srgbClr val="000000"/>
      </a:dk2>
      <a:lt2>
        <a:srgbClr val="F8F8F8"/>
      </a:lt2>
      <a:accent1>
        <a:srgbClr val="0047FF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0047FF"/>
      </a:hlink>
      <a:folHlink>
        <a:srgbClr val="002FA7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riaaise" id="{EF1F0E3D-2C86-CB41-BC22-BB8E621F7BD3}" vid="{207A331B-4511-9648-9021-5363E4EF2CF0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mariaaise</Template>
  <TotalTime>73</TotalTime>
  <Words>2314</Words>
  <Application>Microsoft Macintosh PowerPoint</Application>
  <PresentationFormat>On-screen Show (16:9)</PresentationFormat>
  <Paragraphs>175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Calibri</vt:lpstr>
      <vt:lpstr>Franklin Gothic Book</vt:lpstr>
      <vt:lpstr>Franklin Gothic Medium</vt:lpstr>
      <vt:lpstr>Inter</vt:lpstr>
      <vt:lpstr>mariaaise</vt:lpstr>
      <vt:lpstr>1_mariaaise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Maria Prokofieva</cp:lastModifiedBy>
  <cp:revision>4</cp:revision>
  <dcterms:created xsi:type="dcterms:W3CDTF">2026-02-04T07:36:53Z</dcterms:created>
  <dcterms:modified xsi:type="dcterms:W3CDTF">2026-02-04T08:51:23Z</dcterms:modified>
</cp:coreProperties>
</file>